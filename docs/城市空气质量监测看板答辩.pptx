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2" d="100"/>
          <a:sy n="72" d="100"/>
        </p:scale>
        <p:origin x="208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PM2.5 均值</c:v>
          </c:tx>
          <c:spPr>
            <a:solidFill>
              <a:srgbClr val="3D7EA6"/>
            </a:solidFill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>
                    <a:latin typeface="Microsoft YaHei"/>
                    <a:ea typeface="Microsoft YaHei"/>
                    <a:cs typeface="Microsoft YaHei"/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6"/>
              <c:pt idx="0">
                <c:v>北京</c:v>
              </c:pt>
              <c:pt idx="1">
                <c:v>成都</c:v>
              </c:pt>
              <c:pt idx="2">
                <c:v>西安</c:v>
              </c:pt>
              <c:pt idx="3">
                <c:v>上海</c:v>
              </c:pt>
              <c:pt idx="4">
                <c:v>广州</c:v>
              </c:pt>
              <c:pt idx="5">
                <c:v>杭州</c:v>
              </c:pt>
            </c:strLit>
          </c:cat>
          <c:val>
            <c:numLit>
              <c:formatCode>General</c:formatCode>
              <c:ptCount val="6"/>
              <c:pt idx="0">
                <c:v>61.9</c:v>
              </c:pt>
              <c:pt idx="1">
                <c:v>51.6</c:v>
              </c:pt>
              <c:pt idx="2">
                <c:v>50</c:v>
              </c:pt>
              <c:pt idx="3">
                <c:v>45.6</c:v>
              </c:pt>
              <c:pt idx="4">
                <c:v>38.1</c:v>
              </c:pt>
              <c:pt idx="5">
                <c:v>27.8</c:v>
              </c:pt>
            </c:numLit>
          </c:val>
          <c:extLst>
            <c:ext xmlns:c16="http://schemas.microsoft.com/office/drawing/2014/chart" uri="{C3380CC4-5D6E-409C-BE32-E72D297353CC}">
              <c16:uniqueId val="{00000000-FC8D-4ADF-9F0E-2EB8F1FE562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majorGridlines>
          <c:spPr>
            <a:ln w="9525">
              <a:solidFill>
                <a:srgbClr val="D9DFDC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r>
                  <a:rPr>
                    <a:latin typeface="Microsoft YaHei"/>
                    <a:ea typeface="Microsoft YaHei"/>
                    <a:cs typeface="Microsoft YaHei"/>
                  </a:rPr>
                  <a:t>城市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</c:scaling>
        <c:delete val="0"/>
        <c:axPos val="l"/>
        <c:majorGridlines>
          <c:spPr>
            <a:ln w="9525">
              <a:solidFill>
                <a:srgbClr val="D9DFDC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r>
                  <a:rPr>
                    <a:latin typeface="Microsoft YaHei"/>
                    <a:ea typeface="Microsoft YaHei"/>
                    <a:cs typeface="Microsoft YaHei"/>
                  </a:rPr>
                  <a:t>μg/m³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48650112"/>
        <c:crosses val="autoZero"/>
        <c:crossBetween val="between"/>
      </c:valAx>
    </c:plotArea>
    <c:plotVisOnly val="1"/>
    <c:dispBlanksAs val="zero"/>
    <c:showDLblsOverMax val="1"/>
  </c:chart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开场控制在 20 秒。说明项目题目、技术栈和数据规模。提交前补全姓名、班级和学号。不要在这一页展开技术细节。</a:t>
            </a:r>
          </a:p>
          <a:p>
            <a:r>
              <a:t>来源：课程项目要求和本项目实现。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这一页用 45 秒。左侧说明技术限制，右侧用三个数字说明完成范围。强调项目没有引入 Vue、React 或 axios，数据通过 JPA 从 H2 查询。</a:t>
            </a:r>
          </a:p>
          <a:p>
            <a:r>
              <a:t>来源：课程项目要求，本项目 README 功能矩阵。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这一页用 50 秒。沿着箭头解释一次请求：浏览器发出 fetch，请求进入 Controller，Service 组合筛选条件，Repository 查询 H2，再返回 JSON。指出 Controller、Service、Repository 的目录位置。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这一页直接配合现场演示。先切换城市和指标，再指出四个摘要值、折线图、柱状图、环形图和表格同步刷新。截图来自本项目真实运行界面。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这一页用 60 秒。左侧数据来自 2026 年 9 月 25 日至 10 月 24 日的项目数据库。右侧说明四组接口。现场可打开 Swagger 执行 A2 和 A3。</a:t>
            </a:r>
          </a:p>
          <a:p>
            <a:r>
              <a:t>图表来源：本项目 H2 数据库和 /api/air-quality/stats。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这一页用 45 秒。说明测试不是只测工具类，而是启动 Spring 上下文和内存数据库。展示终端中的 BUILD SUCCESS，再展示 git log --oneline。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最后一页用 20 秒总结。不要只说功能完成，要指出自己能解释筛选链路和统计逻辑。随后进入提问。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80E7D60-F476-4C23-B846-7A59AEC16A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8B82690F-5D81-4D57-AE2B-E7F085A0C2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3688894B-0618-44A2-B516-73EE5685B0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468B128-E15B-45CB-B86B-071A21A181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4CBA3901-CE72-423F-A348-CB75D33638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DFBC498F-8B92-42B3-A754-46F5E0630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8C564BAF-A2E5-4353-800F-703E5FC7CB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303221F2-0819-4104-945E-0ADB65ABB1D3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8E46FCD-6543-49C4-B6B5-D52F8F1573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FF0C2AAE-063F-4A3F-99E8-47EA818808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3D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C41EAE06-5C0F-47BE-9615-CA091DA495E9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2476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00" b="1">
                <a:solidFill>
                  <a:srgbClr val="9FD9C7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00" b="1">
                <a:solidFill>
                  <a:srgbClr val="9FD9C7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00" b="1">
                <a:solidFill>
                  <a:srgbClr val="9FD9C7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00" b="1">
                <a:solidFill>
                  <a:srgbClr val="9FD9C7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00" b="1">
                <a:solidFill>
                  <a:srgbClr val="9FD9C7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00" b="1">
                <a:solidFill>
                  <a:srgbClr val="9FD9C7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00" b="1">
                <a:solidFill>
                  <a:srgbClr val="9FD9C7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00" b="1">
                <a:solidFill>
                  <a:srgbClr val="9FD9C7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00" b="1">
                <a:solidFill>
                  <a:srgbClr val="9FD9C7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00" b="1">
                <a:solidFill>
                  <a:srgbClr val="9FD9C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200" b="1">
                <a:solidFill>
                  <a:srgbClr val="9FD9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9FD9C7"/>
                </a:solidFill>
                <a:latin typeface="Microsoft YaHei"/>
                <a:ea typeface="Microsoft YaHei"/>
                <a:cs typeface="Microsoft YaHei"/>
              </a:rPr>
              <a:t>课程项目答辩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A5082CB-200C-400C-8A4A-764657CDCE3D}"/>
              </a:ext>
            </a:extLst>
          </p:cNvPr>
          <p:cNvSpPr>
            <a:spLocks noGrp="1"/>
          </p:cNvSpPr>
          <p:nvPr/>
        </p:nvSpPr>
        <p:spPr>
          <a:xfrm>
            <a:off x="685800" y="1524000"/>
            <a:ext cx="723900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4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4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4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4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4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4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4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4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4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4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4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城市空气质量</a:t>
            </a:r>
          </a:p>
          <a:p>
            <a:pPr algn="l">
              <a:defRPr sz="4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监测看板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EAD6A9B-F58B-42B5-B1EE-C88BD73B7CE7}"/>
              </a:ext>
            </a:extLst>
          </p:cNvPr>
          <p:cNvSpPr>
            <a:spLocks noGrp="1"/>
          </p:cNvSpPr>
          <p:nvPr/>
        </p:nvSpPr>
        <p:spPr>
          <a:xfrm>
            <a:off x="723900" y="3476625"/>
            <a:ext cx="6953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0">
                <a:solidFill>
                  <a:srgbClr val="D6E9E2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D6E9E2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D6E9E2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D6E9E2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D6E9E2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D6E9E2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D6E9E2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D6E9E2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D6E9E2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D6E9E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725" b="0">
                <a:solidFill>
                  <a:srgbClr val="D6E9E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D6E9E2"/>
                </a:solidFill>
                <a:latin typeface="Microsoft YaHei"/>
                <a:ea typeface="Microsoft YaHei"/>
                <a:cs typeface="Microsoft YaHei"/>
              </a:rPr>
              <a:t>Spring Boot 3 + 原生 JavaScript + ECharts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878BAD9-A0AE-4762-AE9C-05922C577482}"/>
              </a:ext>
            </a:extLst>
          </p:cNvPr>
          <p:cNvSpPr>
            <a:spLocks noGrp="1"/>
          </p:cNvSpPr>
          <p:nvPr/>
        </p:nvSpPr>
        <p:spPr>
          <a:xfrm>
            <a:off x="723900" y="4267200"/>
            <a:ext cx="10668000" cy="9525"/>
          </a:xfrm>
          <a:prstGeom prst="rect">
            <a:avLst/>
          </a:prstGeom>
          <a:solidFill>
            <a:srgbClr val="4F756B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8C7FD21-F2BA-4042-BD69-E179B36BF0AA}"/>
              </a:ext>
            </a:extLst>
          </p:cNvPr>
          <p:cNvSpPr>
            <a:spLocks noGrp="1"/>
          </p:cNvSpPr>
          <p:nvPr/>
        </p:nvSpPr>
        <p:spPr>
          <a:xfrm>
            <a:off x="723900" y="4667250"/>
            <a:ext cx="1905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 个城市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BBFFAF6-EA64-4117-AA63-8C76284FACE9}"/>
              </a:ext>
            </a:extLst>
          </p:cNvPr>
          <p:cNvSpPr>
            <a:spLocks noGrp="1"/>
          </p:cNvSpPr>
          <p:nvPr/>
        </p:nvSpPr>
        <p:spPr>
          <a:xfrm>
            <a:off x="3143250" y="4667250"/>
            <a:ext cx="2952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720 条数据库记录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4506EC6-2598-4AE3-B894-10E5CB97A40E}"/>
              </a:ext>
            </a:extLst>
          </p:cNvPr>
          <p:cNvSpPr>
            <a:spLocks noGrp="1"/>
          </p:cNvSpPr>
          <p:nvPr/>
        </p:nvSpPr>
        <p:spPr>
          <a:xfrm>
            <a:off x="6667500" y="4667250"/>
            <a:ext cx="2476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 组 REST API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5334892-B63A-4DA4-A3F9-153396563A84}"/>
              </a:ext>
            </a:extLst>
          </p:cNvPr>
          <p:cNvSpPr>
            <a:spLocks noGrp="1"/>
          </p:cNvSpPr>
          <p:nvPr/>
        </p:nvSpPr>
        <p:spPr>
          <a:xfrm>
            <a:off x="723900" y="6096000"/>
            <a:ext cx="752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00" b="0">
                <a:solidFill>
                  <a:srgbClr val="D6E9E2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00" b="0">
                <a:solidFill>
                  <a:srgbClr val="D6E9E2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00" b="0">
                <a:solidFill>
                  <a:srgbClr val="D6E9E2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00" b="0">
                <a:solidFill>
                  <a:srgbClr val="D6E9E2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00" b="0">
                <a:solidFill>
                  <a:srgbClr val="D6E9E2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00" b="0">
                <a:solidFill>
                  <a:srgbClr val="D6E9E2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00" b="0">
                <a:solidFill>
                  <a:srgbClr val="D6E9E2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00" b="0">
                <a:solidFill>
                  <a:srgbClr val="D6E9E2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00" b="0">
                <a:solidFill>
                  <a:srgbClr val="D6E9E2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00" b="0">
                <a:solidFill>
                  <a:srgbClr val="D6E9E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200" b="0">
                <a:solidFill>
                  <a:srgbClr val="D6E9E2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dirty="0"/>
              <a:t>第</a:t>
            </a:r>
            <a:r>
              <a:rPr lang="en-US" altLang="zh-CN" dirty="0"/>
              <a:t>9</a:t>
            </a:r>
            <a:r>
              <a:rPr lang="zh-CN" altLang="en-US" dirty="0"/>
              <a:t>组  成员：卢浩、钱沛桥、李梦琪</a:t>
            </a:r>
            <a:endParaRPr sz="1200" b="0" dirty="0">
              <a:solidFill>
                <a:srgbClr val="D6E9E2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014081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4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>
            <a:extLst>
              <a:ext uri="{FF2B5EF4-FFF2-40B4-BE49-F238E27FC236}">
                <a16:creationId xmlns:a16="http://schemas.microsoft.com/office/drawing/2014/main" id="{FB316C75-16B9-4D2E-ADA1-FDBA02246D3E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rPr>
              <a:t>项目范围与完成情况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11C6EC5-A7D4-4DE0-B75D-256373AA14E7}"/>
              </a:ext>
            </a:extLst>
          </p:cNvPr>
          <p:cNvSpPr>
            <a:spLocks noGrp="1"/>
          </p:cNvSpPr>
          <p:nvPr/>
        </p:nvSpPr>
        <p:spPr>
          <a:xfrm>
            <a:off x="628650" y="838200"/>
            <a:ext cx="8858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rPr>
              <a:t>课程要求逐项落地，前端功能、接口和数据量均达到优秀档标准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83C64D6-33AF-4970-8319-56B2DF7C0549}"/>
              </a:ext>
            </a:extLst>
          </p:cNvPr>
          <p:cNvSpPr>
            <a:spLocks noGrp="1"/>
          </p:cNvSpPr>
          <p:nvPr/>
        </p:nvSpPr>
        <p:spPr>
          <a:xfrm>
            <a:off x="11049000" y="400050"/>
            <a:ext cx="5334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C2E4BE5-E4D0-499E-95E0-9BAC82A4B8A3}"/>
              </a:ext>
            </a:extLst>
          </p:cNvPr>
          <p:cNvSpPr>
            <a:spLocks noGrp="1"/>
          </p:cNvSpPr>
          <p:nvPr/>
        </p:nvSpPr>
        <p:spPr>
          <a:xfrm>
            <a:off x="609600" y="1123950"/>
            <a:ext cx="10972800" cy="9525"/>
          </a:xfrm>
          <a:prstGeom prst="rect">
            <a:avLst/>
          </a:prstGeom>
          <a:solidFill>
            <a:srgbClr val="D9DFDC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9C1EE94-DFD5-4A45-8EFD-EE2565E6F445}"/>
              </a:ext>
            </a:extLst>
          </p:cNvPr>
          <p:cNvSpPr>
            <a:spLocks noGrp="1"/>
          </p:cNvSpPr>
          <p:nvPr/>
        </p:nvSpPr>
        <p:spPr>
          <a:xfrm>
            <a:off x="666750" y="1428750"/>
            <a:ext cx="2857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0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0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0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0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0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0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0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0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0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50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rPr>
              <a:t>课程规定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F755ED3-591F-44A4-AE3A-68924E46A08C}"/>
              </a:ext>
            </a:extLst>
          </p:cNvPr>
          <p:cNvSpPr>
            <a:spLocks noGrp="1"/>
          </p:cNvSpPr>
          <p:nvPr/>
        </p:nvSpPr>
        <p:spPr>
          <a:xfrm>
            <a:off x="685800" y="1981200"/>
            <a:ext cx="400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30DC268-3C2B-4E66-8E7B-C116134616C8}"/>
              </a:ext>
            </a:extLst>
          </p:cNvPr>
          <p:cNvSpPr>
            <a:spLocks noGrp="1"/>
          </p:cNvSpPr>
          <p:nvPr/>
        </p:nvSpPr>
        <p:spPr>
          <a:xfrm>
            <a:off x="1200150" y="1952625"/>
            <a:ext cx="4095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nl-NL"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rPr>
              <a:t>Spring Boot 3 和 JDK 25</a:t>
            </a:r>
            <a:endParaRPr sz="1500" b="1">
              <a:solidFill>
                <a:srgbClr val="18211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EA921E4-4981-44D6-A6CB-CA365E15DD86}"/>
              </a:ext>
            </a:extLst>
          </p:cNvPr>
          <p:cNvSpPr>
            <a:spLocks noGrp="1"/>
          </p:cNvSpPr>
          <p:nvPr/>
        </p:nvSpPr>
        <p:spPr>
          <a:xfrm>
            <a:off x="1200150" y="2381250"/>
            <a:ext cx="4095750" cy="9525"/>
          </a:xfrm>
          <a:prstGeom prst="rect">
            <a:avLst/>
          </a:prstGeom>
          <a:solidFill>
            <a:srgbClr val="DEE4E1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5C5AD02-88EB-4B04-9C89-EAEF18F60C7D}"/>
              </a:ext>
            </a:extLst>
          </p:cNvPr>
          <p:cNvSpPr>
            <a:spLocks noGrp="1"/>
          </p:cNvSpPr>
          <p:nvPr/>
        </p:nvSpPr>
        <p:spPr>
          <a:xfrm>
            <a:off x="685800" y="2667000"/>
            <a:ext cx="400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66E3A27-2B71-4DAC-80D2-E78462DE5905}"/>
              </a:ext>
            </a:extLst>
          </p:cNvPr>
          <p:cNvSpPr>
            <a:spLocks noGrp="1"/>
          </p:cNvSpPr>
          <p:nvPr/>
        </p:nvSpPr>
        <p:spPr>
          <a:xfrm>
            <a:off x="1200150" y="2638425"/>
            <a:ext cx="4095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rPr>
              <a:t>原生 HTML CSS JavaScript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C309311-89E8-4D1B-8696-634B5DE8522B}"/>
              </a:ext>
            </a:extLst>
          </p:cNvPr>
          <p:cNvSpPr>
            <a:spLocks noGrp="1"/>
          </p:cNvSpPr>
          <p:nvPr/>
        </p:nvSpPr>
        <p:spPr>
          <a:xfrm>
            <a:off x="1200150" y="3067050"/>
            <a:ext cx="4095750" cy="9525"/>
          </a:xfrm>
          <a:prstGeom prst="rect">
            <a:avLst/>
          </a:prstGeom>
          <a:solidFill>
            <a:srgbClr val="DEE4E1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BC0E6C3-E702-4D05-93B4-F2EBA3B71FBD}"/>
              </a:ext>
            </a:extLst>
          </p:cNvPr>
          <p:cNvSpPr>
            <a:spLocks noGrp="1"/>
          </p:cNvSpPr>
          <p:nvPr/>
        </p:nvSpPr>
        <p:spPr>
          <a:xfrm>
            <a:off x="685800" y="3352800"/>
            <a:ext cx="400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D38E63A-10DC-449C-8F31-936AE6EDCBCE}"/>
              </a:ext>
            </a:extLst>
          </p:cNvPr>
          <p:cNvSpPr>
            <a:spLocks noGrp="1"/>
          </p:cNvSpPr>
          <p:nvPr/>
        </p:nvSpPr>
        <p:spPr>
          <a:xfrm>
            <a:off x="1200150" y="3324225"/>
            <a:ext cx="4095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rPr>
              <a:t>fetch 调用 API，ECharts 绘图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E4A8A13-0795-4EDE-9FE7-7C6F4FB00148}"/>
              </a:ext>
            </a:extLst>
          </p:cNvPr>
          <p:cNvSpPr>
            <a:spLocks noGrp="1"/>
          </p:cNvSpPr>
          <p:nvPr/>
        </p:nvSpPr>
        <p:spPr>
          <a:xfrm>
            <a:off x="1200150" y="3752850"/>
            <a:ext cx="4095750" cy="9525"/>
          </a:xfrm>
          <a:prstGeom prst="rect">
            <a:avLst/>
          </a:prstGeom>
          <a:solidFill>
            <a:srgbClr val="DEE4E1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C450F22-5605-453C-ACFA-806C66774DE8}"/>
              </a:ext>
            </a:extLst>
          </p:cNvPr>
          <p:cNvSpPr>
            <a:spLocks noGrp="1"/>
          </p:cNvSpPr>
          <p:nvPr/>
        </p:nvSpPr>
        <p:spPr>
          <a:xfrm>
            <a:off x="685800" y="4038600"/>
            <a:ext cx="400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DFF3E6A-1551-4BEB-857C-ECAD91F2C9BE}"/>
              </a:ext>
            </a:extLst>
          </p:cNvPr>
          <p:cNvSpPr>
            <a:spLocks noGrp="1"/>
          </p:cNvSpPr>
          <p:nvPr/>
        </p:nvSpPr>
        <p:spPr>
          <a:xfrm>
            <a:off x="1200150" y="4010025"/>
            <a:ext cx="4095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rPr>
              <a:t>数据库查询，不读取静态数据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100AD09-B99B-4786-A5FE-08522CC3EA84}"/>
              </a:ext>
            </a:extLst>
          </p:cNvPr>
          <p:cNvSpPr>
            <a:spLocks noGrp="1"/>
          </p:cNvSpPr>
          <p:nvPr/>
        </p:nvSpPr>
        <p:spPr>
          <a:xfrm>
            <a:off x="1200150" y="4438650"/>
            <a:ext cx="4095750" cy="9525"/>
          </a:xfrm>
          <a:prstGeom prst="rect">
            <a:avLst/>
          </a:prstGeom>
          <a:solidFill>
            <a:srgbClr val="DEE4E1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620394EE-CC77-46BC-B8DE-2A06FC6524CC}"/>
              </a:ext>
            </a:extLst>
          </p:cNvPr>
          <p:cNvSpPr>
            <a:spLocks noGrp="1"/>
          </p:cNvSpPr>
          <p:nvPr/>
        </p:nvSpPr>
        <p:spPr>
          <a:xfrm>
            <a:off x="685800" y="4724400"/>
            <a:ext cx="400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1B2E041-EF91-4EF2-BDEA-3C3CF155B066}"/>
              </a:ext>
            </a:extLst>
          </p:cNvPr>
          <p:cNvSpPr>
            <a:spLocks noGrp="1"/>
          </p:cNvSpPr>
          <p:nvPr/>
        </p:nvSpPr>
        <p:spPr>
          <a:xfrm>
            <a:off x="1200150" y="4695825"/>
            <a:ext cx="4095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rPr>
              <a:t>Swagger、CORS、Git 和 AI 记录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CDC9F72B-5ECE-4240-8563-7C9D1E5E27C2}"/>
              </a:ext>
            </a:extLst>
          </p:cNvPr>
          <p:cNvSpPr>
            <a:spLocks noGrp="1"/>
          </p:cNvSpPr>
          <p:nvPr/>
        </p:nvSpPr>
        <p:spPr>
          <a:xfrm>
            <a:off x="1200150" y="5124450"/>
            <a:ext cx="4095750" cy="9525"/>
          </a:xfrm>
          <a:prstGeom prst="rect">
            <a:avLst/>
          </a:prstGeom>
          <a:solidFill>
            <a:srgbClr val="DEE4E1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5C918D02-B77E-4EB4-9C4E-41EBF8A5D4BD}"/>
              </a:ext>
            </a:extLst>
          </p:cNvPr>
          <p:cNvSpPr>
            <a:spLocks noGrp="1"/>
          </p:cNvSpPr>
          <p:nvPr/>
        </p:nvSpPr>
        <p:spPr>
          <a:xfrm>
            <a:off x="5905500" y="1562100"/>
            <a:ext cx="19050" cy="0"/>
          </a:xfrm>
          <a:prstGeom prst="rect">
            <a:avLst/>
          </a:prstGeom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F70CB3BF-4346-4DE8-AB52-413E80C7C072}"/>
              </a:ext>
            </a:extLst>
          </p:cNvPr>
          <p:cNvSpPr>
            <a:spLocks noGrp="1"/>
          </p:cNvSpPr>
          <p:nvPr/>
        </p:nvSpPr>
        <p:spPr>
          <a:xfrm>
            <a:off x="6477000" y="1543050"/>
            <a:ext cx="200025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43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43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43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43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43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43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43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43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43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43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43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3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33263F5B-BD96-4060-8F74-AE8C870D1C40}"/>
              </a:ext>
            </a:extLst>
          </p:cNvPr>
          <p:cNvSpPr>
            <a:spLocks noGrp="1"/>
          </p:cNvSpPr>
          <p:nvPr/>
        </p:nvSpPr>
        <p:spPr>
          <a:xfrm>
            <a:off x="8572500" y="1714500"/>
            <a:ext cx="2762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rPr>
              <a:t>项前端功能 F1 至 F8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31F80708-B2AC-4D1A-B6DD-563ABF2443EF}"/>
              </a:ext>
            </a:extLst>
          </p:cNvPr>
          <p:cNvSpPr>
            <a:spLocks noGrp="1"/>
          </p:cNvSpPr>
          <p:nvPr/>
        </p:nvSpPr>
        <p:spPr>
          <a:xfrm>
            <a:off x="6477000" y="2543175"/>
            <a:ext cx="4762500" cy="9525"/>
          </a:xfrm>
          <a:prstGeom prst="rect">
            <a:avLst/>
          </a:prstGeom>
          <a:solidFill>
            <a:srgbClr val="D9DFDC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5AC01D90-7074-41FB-8F28-5F4E5D82573E}"/>
              </a:ext>
            </a:extLst>
          </p:cNvPr>
          <p:cNvSpPr>
            <a:spLocks noGrp="1"/>
          </p:cNvSpPr>
          <p:nvPr/>
        </p:nvSpPr>
        <p:spPr>
          <a:xfrm>
            <a:off x="6477000" y="2924175"/>
            <a:ext cx="200025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4350" b="1">
                <a:solidFill>
                  <a:srgbClr val="3D7EA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4350" b="1">
                <a:solidFill>
                  <a:srgbClr val="3D7EA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4350" b="1">
                <a:solidFill>
                  <a:srgbClr val="3D7EA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4350" b="1">
                <a:solidFill>
                  <a:srgbClr val="3D7EA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4350" b="1">
                <a:solidFill>
                  <a:srgbClr val="3D7EA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4350" b="1">
                <a:solidFill>
                  <a:srgbClr val="3D7EA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4350" b="1">
                <a:solidFill>
                  <a:srgbClr val="3D7EA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4350" b="1">
                <a:solidFill>
                  <a:srgbClr val="3D7EA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4350" b="1">
                <a:solidFill>
                  <a:srgbClr val="3D7EA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4350" b="1">
                <a:solidFill>
                  <a:srgbClr val="3D7EA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4350" b="1">
                <a:solidFill>
                  <a:srgbClr val="3D7EA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350" b="1">
                <a:solidFill>
                  <a:srgbClr val="3D7EA6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58D1AE7C-ACB0-4E98-866A-D457D4C9DB10}"/>
              </a:ext>
            </a:extLst>
          </p:cNvPr>
          <p:cNvSpPr>
            <a:spLocks noGrp="1"/>
          </p:cNvSpPr>
          <p:nvPr/>
        </p:nvSpPr>
        <p:spPr>
          <a:xfrm>
            <a:off x="8572500" y="3095625"/>
            <a:ext cx="2762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rPr>
              <a:t>组后端接口 A1 至 A4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5866AC7D-091D-40F6-AF8C-46CDFBA9A8D5}"/>
              </a:ext>
            </a:extLst>
          </p:cNvPr>
          <p:cNvSpPr>
            <a:spLocks noGrp="1"/>
          </p:cNvSpPr>
          <p:nvPr/>
        </p:nvSpPr>
        <p:spPr>
          <a:xfrm>
            <a:off x="6477000" y="3924300"/>
            <a:ext cx="4762500" cy="9525"/>
          </a:xfrm>
          <a:prstGeom prst="rect">
            <a:avLst/>
          </a:prstGeom>
          <a:solidFill>
            <a:srgbClr val="D9DFDC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C4A15AED-15CA-436F-98CE-BC090CF53326}"/>
              </a:ext>
            </a:extLst>
          </p:cNvPr>
          <p:cNvSpPr>
            <a:spLocks noGrp="1"/>
          </p:cNvSpPr>
          <p:nvPr/>
        </p:nvSpPr>
        <p:spPr>
          <a:xfrm>
            <a:off x="6477000" y="4305300"/>
            <a:ext cx="200025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4350" b="1">
                <a:solidFill>
                  <a:srgbClr val="D79D32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4350" b="1">
                <a:solidFill>
                  <a:srgbClr val="D79D32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4350" b="1">
                <a:solidFill>
                  <a:srgbClr val="D79D32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4350" b="1">
                <a:solidFill>
                  <a:srgbClr val="D79D32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4350" b="1">
                <a:solidFill>
                  <a:srgbClr val="D79D32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4350" b="1">
                <a:solidFill>
                  <a:srgbClr val="D79D32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4350" b="1">
                <a:solidFill>
                  <a:srgbClr val="D79D32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4350" b="1">
                <a:solidFill>
                  <a:srgbClr val="D79D32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4350" b="1">
                <a:solidFill>
                  <a:srgbClr val="D79D32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4350" b="1">
                <a:solidFill>
                  <a:srgbClr val="D79D3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4350" b="1">
                <a:solidFill>
                  <a:srgbClr val="D79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350" b="1">
                <a:solidFill>
                  <a:srgbClr val="D79D32"/>
                </a:solidFill>
                <a:latin typeface="Microsoft YaHei"/>
                <a:ea typeface="Microsoft YaHei"/>
                <a:cs typeface="Microsoft YaHei"/>
              </a:rPr>
              <a:t>720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DC58D0FA-0EF9-4CBB-84CC-7C889B4D8852}"/>
              </a:ext>
            </a:extLst>
          </p:cNvPr>
          <p:cNvSpPr>
            <a:spLocks noGrp="1"/>
          </p:cNvSpPr>
          <p:nvPr/>
        </p:nvSpPr>
        <p:spPr>
          <a:xfrm>
            <a:off x="8572500" y="4476750"/>
            <a:ext cx="2762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rPr>
              <a:t>条 H2 数据库记录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1E04FBCC-F003-4CD3-8E08-48896CEB5409}"/>
              </a:ext>
            </a:extLst>
          </p:cNvPr>
          <p:cNvSpPr>
            <a:spLocks noGrp="1"/>
          </p:cNvSpPr>
          <p:nvPr/>
        </p:nvSpPr>
        <p:spPr>
          <a:xfrm>
            <a:off x="609600" y="6505575"/>
            <a:ext cx="476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rPr>
              <a:t>城市空气质量监测看板</a:t>
            </a:r>
          </a:p>
        </p:txBody>
      </p:sp>
    </p:spTree>
    <p:extLst>
      <p:ext uri="{BB962C8B-B14F-4D97-AF65-F5344CB8AC3E}">
        <p14:creationId xmlns:p14="http://schemas.microsoft.com/office/powerpoint/2010/main" val="18630782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A00C5344-18EE-4BD2-BF79-EF5DEE9229F0}"/>
              </a:ext>
            </a:extLst>
          </p:cNvPr>
          <p:cNvCxnSpPr>
            <a:stCxn id="14" idx="3"/>
            <a:endCxn id="17" idx="1"/>
          </p:cNvCxnSpPr>
          <p:nvPr/>
        </p:nvCxnSpPr>
        <p:spPr>
          <a:xfrm>
            <a:off x="9239250" y="3095625"/>
            <a:ext cx="685800" cy="0"/>
          </a:xfrm>
          <a:prstGeom prst="straightConnector1">
            <a:avLst/>
          </a:prstGeom>
          <a:ln w="19050">
            <a:solidFill>
              <a:srgbClr val="1F8A70"/>
            </a:solidFill>
            <a:prstDash val="solid"/>
            <a:tailEnd type="triangle" w="sm" len="sm"/>
          </a:ln>
        </p:spPr>
      </p:cxn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FFED6166-9344-4E51-BF83-F8110DBB82E6}"/>
              </a:ext>
            </a:extLst>
          </p:cNvPr>
          <p:cNvCxnSpPr>
            <a:stCxn id="11" idx="3"/>
            <a:endCxn id="14" idx="1"/>
          </p:cNvCxnSpPr>
          <p:nvPr/>
        </p:nvCxnSpPr>
        <p:spPr>
          <a:xfrm>
            <a:off x="6915150" y="3095625"/>
            <a:ext cx="685800" cy="0"/>
          </a:xfrm>
          <a:prstGeom prst="straightConnector1">
            <a:avLst/>
          </a:prstGeom>
          <a:ln w="19050">
            <a:solidFill>
              <a:srgbClr val="1F8A70"/>
            </a:solidFill>
            <a:prstDash val="solid"/>
            <a:tailEnd type="triangle" w="sm" len="sm"/>
          </a:ln>
        </p:spPr>
      </p:cxn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CEBD3585-0F8F-4D2F-A5C2-B780D9030058}"/>
              </a:ext>
            </a:extLst>
          </p:cNvPr>
          <p:cNvCxnSpPr>
            <a:stCxn id="8" idx="3"/>
            <a:endCxn id="11" idx="1"/>
          </p:cNvCxnSpPr>
          <p:nvPr/>
        </p:nvCxnSpPr>
        <p:spPr>
          <a:xfrm>
            <a:off x="4591050" y="3095625"/>
            <a:ext cx="685800" cy="0"/>
          </a:xfrm>
          <a:prstGeom prst="straightConnector1">
            <a:avLst/>
          </a:prstGeom>
          <a:ln w="19050">
            <a:solidFill>
              <a:srgbClr val="1F8A70"/>
            </a:solidFill>
            <a:prstDash val="solid"/>
            <a:tailEnd type="triangle" w="sm" len="sm"/>
          </a:ln>
        </p:spPr>
      </p:cxn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44B94B6B-64A9-4ED4-BE85-BE89D70FC4AC}"/>
              </a:ext>
            </a:extLst>
          </p:cNvPr>
          <p:cNvCxnSpPr>
            <a:stCxn id="5" idx="3"/>
            <a:endCxn id="8" idx="1"/>
          </p:cNvCxnSpPr>
          <p:nvPr/>
        </p:nvCxnSpPr>
        <p:spPr>
          <a:xfrm>
            <a:off x="2266950" y="3095625"/>
            <a:ext cx="685800" cy="0"/>
          </a:xfrm>
          <a:prstGeom prst="straightConnector1">
            <a:avLst/>
          </a:prstGeom>
          <a:ln w="19050">
            <a:solidFill>
              <a:srgbClr val="1F8A70"/>
            </a:solidFill>
            <a:prstDash val="solid"/>
            <a:tailEnd type="triangle" w="sm" len="sm"/>
          </a:ln>
        </p:spPr>
      </p:cxnSp>
      <p:sp>
        <p:nvSpPr>
          <p:cNvPr id="31" name="矩形 30">
            <a:extLst>
              <a:ext uri="{FF2B5EF4-FFF2-40B4-BE49-F238E27FC236}">
                <a16:creationId xmlns:a16="http://schemas.microsoft.com/office/drawing/2014/main" id="{19F50697-AD82-42AD-A2B0-1FCFD822DF7E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rPr>
              <a:t>系统架构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717BD81-F1EC-434D-BE9C-92BCD2A35F8D}"/>
              </a:ext>
            </a:extLst>
          </p:cNvPr>
          <p:cNvSpPr>
            <a:spLocks noGrp="1"/>
          </p:cNvSpPr>
          <p:nvPr/>
        </p:nvSpPr>
        <p:spPr>
          <a:xfrm>
            <a:off x="628650" y="838200"/>
            <a:ext cx="8858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rPr>
              <a:t>同一 Spring Boot 服务提供静态前端与 REST API，减少现场部署步骤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495401E-D177-49B1-B875-65F7CBB0C5CF}"/>
              </a:ext>
            </a:extLst>
          </p:cNvPr>
          <p:cNvSpPr>
            <a:spLocks noGrp="1"/>
          </p:cNvSpPr>
          <p:nvPr/>
        </p:nvSpPr>
        <p:spPr>
          <a:xfrm>
            <a:off x="11049000" y="400050"/>
            <a:ext cx="5334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586D83E-AC81-4A89-AB4B-821DF8291365}"/>
              </a:ext>
            </a:extLst>
          </p:cNvPr>
          <p:cNvSpPr>
            <a:spLocks noGrp="1"/>
          </p:cNvSpPr>
          <p:nvPr/>
        </p:nvSpPr>
        <p:spPr>
          <a:xfrm>
            <a:off x="609600" y="1123950"/>
            <a:ext cx="10972800" cy="9525"/>
          </a:xfrm>
          <a:prstGeom prst="rect">
            <a:avLst/>
          </a:prstGeom>
          <a:solidFill>
            <a:srgbClr val="D9DFDC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DE634C19-4E79-49A9-87FA-CDF316A4BD11}"/>
              </a:ext>
            </a:extLst>
          </p:cNvPr>
          <p:cNvSpPr>
            <a:spLocks noGrp="1"/>
          </p:cNvSpPr>
          <p:nvPr/>
        </p:nvSpPr>
        <p:spPr>
          <a:xfrm>
            <a:off x="628650" y="2190750"/>
            <a:ext cx="1638300" cy="1809750"/>
          </a:xfrm>
          <a:prstGeom prst="roundRect">
            <a:avLst>
              <a:gd name="adj" fmla="val 4651"/>
            </a:avLst>
          </a:prstGeom>
          <a:solidFill>
            <a:srgbClr val="E4F2ED"/>
          </a:solidFill>
          <a:ln w="9525">
            <a:solidFill>
              <a:srgbClr val="B9DDC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FE401A9-04A9-4A75-9298-824E0EE97BCE}"/>
              </a:ext>
            </a:extLst>
          </p:cNvPr>
          <p:cNvSpPr>
            <a:spLocks noGrp="1"/>
          </p:cNvSpPr>
          <p:nvPr/>
        </p:nvSpPr>
        <p:spPr>
          <a:xfrm>
            <a:off x="800100" y="2428875"/>
            <a:ext cx="12954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rPr>
              <a:t>浏览器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64A7677-C39D-4ECE-906C-DCBF6D34EF12}"/>
              </a:ext>
            </a:extLst>
          </p:cNvPr>
          <p:cNvSpPr>
            <a:spLocks noGrp="1"/>
          </p:cNvSpPr>
          <p:nvPr/>
        </p:nvSpPr>
        <p:spPr>
          <a:xfrm>
            <a:off x="781050" y="3000375"/>
            <a:ext cx="1333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rPr>
              <a:t>HTML CSS JavaScript</a:t>
            </a:r>
          </a:p>
          <a:p>
            <a: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rPr>
              <a:t>fetch 和 ECharts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F7D99EA5-DA82-4EA5-B742-22F7FB21997B}"/>
              </a:ext>
            </a:extLst>
          </p:cNvPr>
          <p:cNvSpPr>
            <a:spLocks noGrp="1"/>
          </p:cNvSpPr>
          <p:nvPr/>
        </p:nvSpPr>
        <p:spPr>
          <a:xfrm>
            <a:off x="2952750" y="2190750"/>
            <a:ext cx="1638300" cy="1809750"/>
          </a:xfrm>
          <a:prstGeom prst="roundRect">
            <a:avLst>
              <a:gd name="adj" fmla="val 4651"/>
            </a:avLst>
          </a:prstGeom>
          <a:solidFill>
            <a:srgbClr val="E8F1F6"/>
          </a:solidFill>
          <a:ln w="9525">
            <a:solidFill>
              <a:srgbClr val="BAD0D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7F7A692-401C-490F-8783-62B833F91553}"/>
              </a:ext>
            </a:extLst>
          </p:cNvPr>
          <p:cNvSpPr>
            <a:spLocks noGrp="1"/>
          </p:cNvSpPr>
          <p:nvPr/>
        </p:nvSpPr>
        <p:spPr>
          <a:xfrm>
            <a:off x="3124200" y="2428875"/>
            <a:ext cx="12954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rPr>
              <a:t>Controller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0528A98-1C3A-4C45-8C1A-4485B08F2C28}"/>
              </a:ext>
            </a:extLst>
          </p:cNvPr>
          <p:cNvSpPr>
            <a:spLocks noGrp="1"/>
          </p:cNvSpPr>
          <p:nvPr/>
        </p:nvSpPr>
        <p:spPr>
          <a:xfrm>
            <a:off x="3105150" y="3000375"/>
            <a:ext cx="1333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rPr>
              <a:t>参数接收</a:t>
            </a:r>
          </a:p>
          <a:p>
            <a: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rPr>
              <a:t>OpenAPI 文档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7E2E5406-D865-409B-9767-4BFDD97DCF06}"/>
              </a:ext>
            </a:extLst>
          </p:cNvPr>
          <p:cNvSpPr>
            <a:spLocks noGrp="1"/>
          </p:cNvSpPr>
          <p:nvPr/>
        </p:nvSpPr>
        <p:spPr>
          <a:xfrm>
            <a:off x="5276850" y="2190750"/>
            <a:ext cx="1638300" cy="1809750"/>
          </a:xfrm>
          <a:prstGeom prst="roundRect">
            <a:avLst>
              <a:gd name="adj" fmla="val 4651"/>
            </a:avLst>
          </a:prstGeom>
          <a:solidFill>
            <a:srgbClr val="FFF2D8"/>
          </a:solidFill>
          <a:ln w="9525">
            <a:solidFill>
              <a:srgbClr val="E9C77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E46A335-B0D2-4805-B88C-51F76612B8C9}"/>
              </a:ext>
            </a:extLst>
          </p:cNvPr>
          <p:cNvSpPr>
            <a:spLocks noGrp="1"/>
          </p:cNvSpPr>
          <p:nvPr/>
        </p:nvSpPr>
        <p:spPr>
          <a:xfrm>
            <a:off x="5448300" y="2428875"/>
            <a:ext cx="12954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rPr>
              <a:t>Service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8F0D2C3-AD73-40C6-A4E8-F03C0F69EAC5}"/>
              </a:ext>
            </a:extLst>
          </p:cNvPr>
          <p:cNvSpPr>
            <a:spLocks noGrp="1"/>
          </p:cNvSpPr>
          <p:nvPr/>
        </p:nvSpPr>
        <p:spPr>
          <a:xfrm>
            <a:off x="5429250" y="3000375"/>
            <a:ext cx="1333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rPr>
              <a:t>筛选组合</a:t>
            </a:r>
          </a:p>
          <a:p>
            <a: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rPr>
              <a:t>指标与统计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D349FFCB-B040-47A1-9DC2-C01BDF115623}"/>
              </a:ext>
            </a:extLst>
          </p:cNvPr>
          <p:cNvSpPr>
            <a:spLocks noGrp="1"/>
          </p:cNvSpPr>
          <p:nvPr/>
        </p:nvSpPr>
        <p:spPr>
          <a:xfrm>
            <a:off x="7600950" y="2190750"/>
            <a:ext cx="1638300" cy="1809750"/>
          </a:xfrm>
          <a:prstGeom prst="roundRect">
            <a:avLst>
              <a:gd name="adj" fmla="val 4651"/>
            </a:avLst>
          </a:prstGeom>
          <a:solidFill>
            <a:srgbClr val="F2ECF7"/>
          </a:solidFill>
          <a:ln w="9525">
            <a:solidFill>
              <a:srgbClr val="D4C4E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6D6149D-462A-466E-B64F-85706000C484}"/>
              </a:ext>
            </a:extLst>
          </p:cNvPr>
          <p:cNvSpPr>
            <a:spLocks noGrp="1"/>
          </p:cNvSpPr>
          <p:nvPr/>
        </p:nvSpPr>
        <p:spPr>
          <a:xfrm>
            <a:off x="7772400" y="2428875"/>
            <a:ext cx="12954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rPr>
              <a:t>Repository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F37BD81-E2D8-487C-B325-B6FA236A0008}"/>
              </a:ext>
            </a:extLst>
          </p:cNvPr>
          <p:cNvSpPr>
            <a:spLocks noGrp="1"/>
          </p:cNvSpPr>
          <p:nvPr/>
        </p:nvSpPr>
        <p:spPr>
          <a:xfrm>
            <a:off x="7753350" y="3000375"/>
            <a:ext cx="1333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rPr>
              <a:t>JPA Specification</a:t>
            </a:r>
          </a:p>
          <a:p>
            <a: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rPr>
              <a:t>实体查询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219CCCA2-2E9A-4563-94BA-8182014C3182}"/>
              </a:ext>
            </a:extLst>
          </p:cNvPr>
          <p:cNvSpPr>
            <a:spLocks noGrp="1"/>
          </p:cNvSpPr>
          <p:nvPr/>
        </p:nvSpPr>
        <p:spPr>
          <a:xfrm>
            <a:off x="9925050" y="2190750"/>
            <a:ext cx="1638300" cy="1809750"/>
          </a:xfrm>
          <a:prstGeom prst="roundRect">
            <a:avLst>
              <a:gd name="adj" fmla="val 4651"/>
            </a:avLst>
          </a:prstGeom>
          <a:solidFill>
            <a:srgbClr val="F8E8E3"/>
          </a:solidFill>
          <a:ln w="9525">
            <a:solidFill>
              <a:srgbClr val="E1B7A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11A0F44-3EF5-49DB-81FD-464053460978}"/>
              </a:ext>
            </a:extLst>
          </p:cNvPr>
          <p:cNvSpPr>
            <a:spLocks noGrp="1"/>
          </p:cNvSpPr>
          <p:nvPr/>
        </p:nvSpPr>
        <p:spPr>
          <a:xfrm>
            <a:off x="10096500" y="2428875"/>
            <a:ext cx="12954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rPr>
              <a:t>H2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09BC66A0-22A4-4157-8363-EA640FF30DDA}"/>
              </a:ext>
            </a:extLst>
          </p:cNvPr>
          <p:cNvSpPr>
            <a:spLocks noGrp="1"/>
          </p:cNvSpPr>
          <p:nvPr/>
        </p:nvSpPr>
        <p:spPr>
          <a:xfrm>
            <a:off x="10077450" y="3000375"/>
            <a:ext cx="1333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rPr>
              <a:t>文件数据库</a:t>
            </a:r>
          </a:p>
          <a:p>
            <a: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rPr>
              <a:t>720 条记录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4197227-0568-4609-8B9C-5262F6DB3D67}"/>
              </a:ext>
            </a:extLst>
          </p:cNvPr>
          <p:cNvSpPr>
            <a:spLocks noGrp="1"/>
          </p:cNvSpPr>
          <p:nvPr/>
        </p:nvSpPr>
        <p:spPr>
          <a:xfrm>
            <a:off x="685800" y="4714875"/>
            <a:ext cx="1619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0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0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0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0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0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0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0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0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0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50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rPr>
              <a:t>分层职责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BC4C1FDB-1221-4064-A52F-4D8E8107AAFB}"/>
              </a:ext>
            </a:extLst>
          </p:cNvPr>
          <p:cNvSpPr>
            <a:spLocks noGrp="1"/>
          </p:cNvSpPr>
          <p:nvPr/>
        </p:nvSpPr>
        <p:spPr>
          <a:xfrm>
            <a:off x="685800" y="5219700"/>
            <a:ext cx="3333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35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35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35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35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35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35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35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35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35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35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rPr>
              <a:t>Controller 只处理 HTTP 契约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2179275-A072-4505-9302-8157B4A357DD}"/>
              </a:ext>
            </a:extLst>
          </p:cNvPr>
          <p:cNvSpPr>
            <a:spLocks noGrp="1"/>
          </p:cNvSpPr>
          <p:nvPr/>
        </p:nvSpPr>
        <p:spPr>
          <a:xfrm>
            <a:off x="4381500" y="5219700"/>
            <a:ext cx="3333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35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35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35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35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35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35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35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35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35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35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rPr>
              <a:t>Service 负责筛选和统计规则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5BFB200E-4D20-49B5-8751-2EF78BCEE8D5}"/>
              </a:ext>
            </a:extLst>
          </p:cNvPr>
          <p:cNvSpPr>
            <a:spLocks noGrp="1"/>
          </p:cNvSpPr>
          <p:nvPr/>
        </p:nvSpPr>
        <p:spPr>
          <a:xfrm>
            <a:off x="8077200" y="5219700"/>
            <a:ext cx="3333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35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35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35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35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35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35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35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35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35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35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rPr>
              <a:t>Repository 负责数据库访问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49A5DF65-DB36-4C11-80EF-76B5F3D57CFD}"/>
              </a:ext>
            </a:extLst>
          </p:cNvPr>
          <p:cNvSpPr>
            <a:spLocks noGrp="1"/>
          </p:cNvSpPr>
          <p:nvPr/>
        </p:nvSpPr>
        <p:spPr>
          <a:xfrm>
            <a:off x="685800" y="5715000"/>
            <a:ext cx="10668000" cy="9525"/>
          </a:xfrm>
          <a:prstGeom prst="rect">
            <a:avLst/>
          </a:prstGeom>
          <a:solidFill>
            <a:srgbClr val="D9DFDC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C732AA05-CBB7-476E-80AB-E5A388DC24FF}"/>
              </a:ext>
            </a:extLst>
          </p:cNvPr>
          <p:cNvSpPr>
            <a:spLocks noGrp="1"/>
          </p:cNvSpPr>
          <p:nvPr/>
        </p:nvSpPr>
        <p:spPr>
          <a:xfrm>
            <a:off x="685800" y="5905500"/>
            <a:ext cx="10572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rPr>
              <a:t>首次启动由 DemoDataInitializer 写入 6 个城市和连续 120 天数据，后续启动不重复插入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350D7353-7E79-42C4-B3C2-19F7AA7320E1}"/>
              </a:ext>
            </a:extLst>
          </p:cNvPr>
          <p:cNvSpPr>
            <a:spLocks noGrp="1"/>
          </p:cNvSpPr>
          <p:nvPr/>
        </p:nvSpPr>
        <p:spPr>
          <a:xfrm>
            <a:off x="609600" y="6505575"/>
            <a:ext cx="476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rPr>
              <a:t>城市空气质量监测看板</a:t>
            </a:r>
          </a:p>
        </p:txBody>
      </p:sp>
    </p:spTree>
    <p:extLst>
      <p:ext uri="{BB962C8B-B14F-4D97-AF65-F5344CB8AC3E}">
        <p14:creationId xmlns:p14="http://schemas.microsoft.com/office/powerpoint/2010/main" val="11903725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4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6334E1E6-5418-44A2-9379-8C87CAD97843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rPr>
              <a:t>看板界面与交互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3C0AF97-2AB3-426D-849B-3AEABC664BA0}"/>
              </a:ext>
            </a:extLst>
          </p:cNvPr>
          <p:cNvSpPr>
            <a:spLocks noGrp="1"/>
          </p:cNvSpPr>
          <p:nvPr/>
        </p:nvSpPr>
        <p:spPr>
          <a:xfrm>
            <a:off x="628650" y="838200"/>
            <a:ext cx="8858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rPr>
              <a:t>筛选条件同时驱动摘要指标、三类图表和每页 10 条的明细表格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48583D7-0207-4845-8145-1F919561685A}"/>
              </a:ext>
            </a:extLst>
          </p:cNvPr>
          <p:cNvSpPr>
            <a:spLocks noGrp="1"/>
          </p:cNvSpPr>
          <p:nvPr/>
        </p:nvSpPr>
        <p:spPr>
          <a:xfrm>
            <a:off x="11049000" y="400050"/>
            <a:ext cx="5334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08A320E-A299-4B92-8DBE-1C2C84F01D7B}"/>
              </a:ext>
            </a:extLst>
          </p:cNvPr>
          <p:cNvSpPr>
            <a:spLocks noGrp="1"/>
          </p:cNvSpPr>
          <p:nvPr/>
        </p:nvSpPr>
        <p:spPr>
          <a:xfrm>
            <a:off x="609600" y="1123950"/>
            <a:ext cx="10972800" cy="9525"/>
          </a:xfrm>
          <a:prstGeom prst="rect">
            <a:avLst/>
          </a:prstGeom>
          <a:solidFill>
            <a:srgbClr val="D9DFDC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29626FE2-F4C2-4026-B09A-24C824AEC8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8561" y="1352550"/>
            <a:ext cx="6483927" cy="4953000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ADA7141D-D414-43CA-B1F8-40D1F14F5228}"/>
              </a:ext>
            </a:extLst>
          </p:cNvPr>
          <p:cNvSpPr>
            <a:spLocks noGrp="1"/>
          </p:cNvSpPr>
          <p:nvPr/>
        </p:nvSpPr>
        <p:spPr>
          <a:xfrm>
            <a:off x="8267700" y="1571625"/>
            <a:ext cx="476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03AB037-4435-42D0-AC3D-46A7A02FBCB9}"/>
              </a:ext>
            </a:extLst>
          </p:cNvPr>
          <p:cNvSpPr>
            <a:spLocks noGrp="1"/>
          </p:cNvSpPr>
          <p:nvPr/>
        </p:nvSpPr>
        <p:spPr>
          <a:xfrm>
            <a:off x="8810625" y="1524000"/>
            <a:ext cx="271462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rPr>
              <a:t>多城市与日期筛选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C9DDE25-4F8D-459A-87A4-983266ED4630}"/>
              </a:ext>
            </a:extLst>
          </p:cNvPr>
          <p:cNvSpPr>
            <a:spLocks noGrp="1"/>
          </p:cNvSpPr>
          <p:nvPr/>
        </p:nvSpPr>
        <p:spPr>
          <a:xfrm>
            <a:off x="8810625" y="1924050"/>
            <a:ext cx="271462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rPr>
              <a:t>默认最近 30 天，城市可多选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E2CE7AA-029E-4C57-ADF7-AEB94785EB3C}"/>
              </a:ext>
            </a:extLst>
          </p:cNvPr>
          <p:cNvSpPr>
            <a:spLocks noGrp="1"/>
          </p:cNvSpPr>
          <p:nvPr/>
        </p:nvSpPr>
        <p:spPr>
          <a:xfrm>
            <a:off x="8267700" y="2714625"/>
            <a:ext cx="476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00" b="1">
                <a:solidFill>
                  <a:srgbClr val="3D7EA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00" b="1">
                <a:solidFill>
                  <a:srgbClr val="3D7EA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00" b="1">
                <a:solidFill>
                  <a:srgbClr val="3D7EA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00" b="1">
                <a:solidFill>
                  <a:srgbClr val="3D7EA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00" b="1">
                <a:solidFill>
                  <a:srgbClr val="3D7EA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00" b="1">
                <a:solidFill>
                  <a:srgbClr val="3D7EA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00" b="1">
                <a:solidFill>
                  <a:srgbClr val="3D7EA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00" b="1">
                <a:solidFill>
                  <a:srgbClr val="3D7EA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00" b="1">
                <a:solidFill>
                  <a:srgbClr val="3D7EA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00" b="1">
                <a:solidFill>
                  <a:srgbClr val="3D7EA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200" b="1">
                <a:solidFill>
                  <a:srgbClr val="3D7EA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3D7EA6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3F31ECA-25A1-4524-A5D7-37A76E740CFD}"/>
              </a:ext>
            </a:extLst>
          </p:cNvPr>
          <p:cNvSpPr>
            <a:spLocks noGrp="1"/>
          </p:cNvSpPr>
          <p:nvPr/>
        </p:nvSpPr>
        <p:spPr>
          <a:xfrm>
            <a:off x="8810625" y="2667000"/>
            <a:ext cx="271462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rPr>
              <a:t>六项指标切换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ED1B402-26EF-4CDA-B431-86622F1364E3}"/>
              </a:ext>
            </a:extLst>
          </p:cNvPr>
          <p:cNvSpPr>
            <a:spLocks noGrp="1"/>
          </p:cNvSpPr>
          <p:nvPr/>
        </p:nvSpPr>
        <p:spPr>
          <a:xfrm>
            <a:off x="8810625" y="3067050"/>
            <a:ext cx="271462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rPr>
              <a:t>PM2.5、PM10、SO₂、NO₂、O₃、AQI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4D40FF5-D352-4A1D-8979-2891B2856471}"/>
              </a:ext>
            </a:extLst>
          </p:cNvPr>
          <p:cNvSpPr>
            <a:spLocks noGrp="1"/>
          </p:cNvSpPr>
          <p:nvPr/>
        </p:nvSpPr>
        <p:spPr>
          <a:xfrm>
            <a:off x="8267700" y="3857625"/>
            <a:ext cx="476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00" b="1">
                <a:solidFill>
                  <a:srgbClr val="D79D32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00" b="1">
                <a:solidFill>
                  <a:srgbClr val="D79D32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00" b="1">
                <a:solidFill>
                  <a:srgbClr val="D79D32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00" b="1">
                <a:solidFill>
                  <a:srgbClr val="D79D32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00" b="1">
                <a:solidFill>
                  <a:srgbClr val="D79D32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00" b="1">
                <a:solidFill>
                  <a:srgbClr val="D79D32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00" b="1">
                <a:solidFill>
                  <a:srgbClr val="D79D32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00" b="1">
                <a:solidFill>
                  <a:srgbClr val="D79D32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00" b="1">
                <a:solidFill>
                  <a:srgbClr val="D79D32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00" b="1">
                <a:solidFill>
                  <a:srgbClr val="D79D3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200" b="1">
                <a:solidFill>
                  <a:srgbClr val="D79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D79D32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FDB8114-83DC-48D6-9542-F809201F1473}"/>
              </a:ext>
            </a:extLst>
          </p:cNvPr>
          <p:cNvSpPr>
            <a:spLocks noGrp="1"/>
          </p:cNvSpPr>
          <p:nvPr/>
        </p:nvSpPr>
        <p:spPr>
          <a:xfrm>
            <a:off x="8810625" y="3810000"/>
            <a:ext cx="271462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rPr>
              <a:t>三类图表联动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159BD58-70FA-4DB5-9C79-719F52032E7A}"/>
              </a:ext>
            </a:extLst>
          </p:cNvPr>
          <p:cNvSpPr>
            <a:spLocks noGrp="1"/>
          </p:cNvSpPr>
          <p:nvPr/>
        </p:nvSpPr>
        <p:spPr>
          <a:xfrm>
            <a:off x="8810625" y="4210050"/>
            <a:ext cx="2714625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rPr>
              <a:t>趋势、城市均值、质量等级分布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5B523F0-B2E3-4FB4-86C1-109F8D435BFF}"/>
              </a:ext>
            </a:extLst>
          </p:cNvPr>
          <p:cNvSpPr>
            <a:spLocks noGrp="1"/>
          </p:cNvSpPr>
          <p:nvPr/>
        </p:nvSpPr>
        <p:spPr>
          <a:xfrm>
            <a:off x="8267700" y="5000625"/>
            <a:ext cx="476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00" b="1">
                <a:solidFill>
                  <a:srgbClr val="CC5D3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00" b="1">
                <a:solidFill>
                  <a:srgbClr val="CC5D3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00" b="1">
                <a:solidFill>
                  <a:srgbClr val="CC5D3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00" b="1">
                <a:solidFill>
                  <a:srgbClr val="CC5D3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00" b="1">
                <a:solidFill>
                  <a:srgbClr val="CC5D3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00" b="1">
                <a:solidFill>
                  <a:srgbClr val="CC5D3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00" b="1">
                <a:solidFill>
                  <a:srgbClr val="CC5D3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00" b="1">
                <a:solidFill>
                  <a:srgbClr val="CC5D3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00" b="1">
                <a:solidFill>
                  <a:srgbClr val="CC5D3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00" b="1">
                <a:solidFill>
                  <a:srgbClr val="CC5D3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200" b="1">
                <a:solidFill>
                  <a:srgbClr val="CC5D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C5D3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A0106AC-2590-4575-A2A7-A60BFA49F2E1}"/>
              </a:ext>
            </a:extLst>
          </p:cNvPr>
          <p:cNvSpPr>
            <a:spLocks noGrp="1"/>
          </p:cNvSpPr>
          <p:nvPr/>
        </p:nvSpPr>
        <p:spPr>
          <a:xfrm>
            <a:off x="8810625" y="4953000"/>
            <a:ext cx="271462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rPr>
              <a:t>分页与记录详情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DA53C49-2B46-4CD4-948C-203BCA7BD133}"/>
              </a:ext>
            </a:extLst>
          </p:cNvPr>
          <p:cNvSpPr>
            <a:spLocks noGrp="1"/>
          </p:cNvSpPr>
          <p:nvPr/>
        </p:nvSpPr>
        <p:spPr>
          <a:xfrm>
            <a:off x="8810625" y="5353050"/>
            <a:ext cx="2714625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rPr>
              <a:t>详情按钮单独调用 A4 接口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1333001-499C-43A3-B6CF-2E56E0F8EF61}"/>
              </a:ext>
            </a:extLst>
          </p:cNvPr>
          <p:cNvSpPr>
            <a:spLocks noGrp="1"/>
          </p:cNvSpPr>
          <p:nvPr/>
        </p:nvSpPr>
        <p:spPr>
          <a:xfrm>
            <a:off x="609600" y="6505575"/>
            <a:ext cx="476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rPr>
              <a:t>城市空气质量监测看板</a:t>
            </a:r>
          </a:p>
        </p:txBody>
      </p:sp>
    </p:spTree>
    <p:extLst>
      <p:ext uri="{BB962C8B-B14F-4D97-AF65-F5344CB8AC3E}">
        <p14:creationId xmlns:p14="http://schemas.microsoft.com/office/powerpoint/2010/main" val="11983067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>
            <a:extLst>
              <a:ext uri="{FF2B5EF4-FFF2-40B4-BE49-F238E27FC236}">
                <a16:creationId xmlns:a16="http://schemas.microsoft.com/office/drawing/2014/main" id="{112B7E73-288E-40B5-B894-6C32EDBD54A8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rPr>
              <a:t>数据与 API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47B6840-0810-470A-A0D1-60DF8E34177C}"/>
              </a:ext>
            </a:extLst>
          </p:cNvPr>
          <p:cNvSpPr>
            <a:spLocks noGrp="1"/>
          </p:cNvSpPr>
          <p:nvPr/>
        </p:nvSpPr>
        <p:spPr>
          <a:xfrm>
            <a:off x="628650" y="838200"/>
            <a:ext cx="8858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rPr>
              <a:t>最近 30 天 PM2.5 均值示例，图表数据来自数据库查询结果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E3C04C9-6647-4F43-B450-A00B7765F9A0}"/>
              </a:ext>
            </a:extLst>
          </p:cNvPr>
          <p:cNvSpPr>
            <a:spLocks noGrp="1"/>
          </p:cNvSpPr>
          <p:nvPr/>
        </p:nvSpPr>
        <p:spPr>
          <a:xfrm>
            <a:off x="11049000" y="400050"/>
            <a:ext cx="5334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07FA33D-E7BE-4D71-91BD-CB7CED96784A}"/>
              </a:ext>
            </a:extLst>
          </p:cNvPr>
          <p:cNvSpPr>
            <a:spLocks noGrp="1"/>
          </p:cNvSpPr>
          <p:nvPr/>
        </p:nvSpPr>
        <p:spPr>
          <a:xfrm>
            <a:off x="609600" y="1123950"/>
            <a:ext cx="10972800" cy="9525"/>
          </a:xfrm>
          <a:prstGeom prst="rect">
            <a:avLst/>
          </a:prstGeom>
          <a:solidFill>
            <a:srgbClr val="D9DFDC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graphicFrame>
        <p:nvGraphicFramePr>
          <p:cNvPr id="5" name="Chart">
            <a:extLst>
              <a:ext uri="{FF2B5EF4-FFF2-40B4-BE49-F238E27FC236}">
                <a16:creationId xmlns:a16="http://schemas.microsoft.com/office/drawing/2014/main" id="{D1AAD3AD-55BE-47BE-8516-E81A740BA018}"/>
              </a:ext>
            </a:extLst>
          </p:cNvPr>
          <p:cNvGraphicFramePr/>
          <p:nvPr/>
        </p:nvGraphicFramePr>
        <p:xfrm>
          <a:off x="590550" y="1600200"/>
          <a:ext cx="6858000" cy="40957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矩形 5">
            <a:extLst>
              <a:ext uri="{FF2B5EF4-FFF2-40B4-BE49-F238E27FC236}">
                <a16:creationId xmlns:a16="http://schemas.microsoft.com/office/drawing/2014/main" id="{23E4AEE4-C210-4BD4-9831-DC9F2BB29585}"/>
              </a:ext>
            </a:extLst>
          </p:cNvPr>
          <p:cNvSpPr>
            <a:spLocks noGrp="1"/>
          </p:cNvSpPr>
          <p:nvPr/>
        </p:nvSpPr>
        <p:spPr>
          <a:xfrm>
            <a:off x="8020050" y="1571625"/>
            <a:ext cx="2857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65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65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65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65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65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65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65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65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65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65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rPr>
              <a:t>REST API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358ACBB-BA55-4157-937B-2C1072902216}"/>
              </a:ext>
            </a:extLst>
          </p:cNvPr>
          <p:cNvSpPr>
            <a:spLocks noGrp="1"/>
          </p:cNvSpPr>
          <p:nvPr/>
        </p:nvSpPr>
        <p:spPr>
          <a:xfrm>
            <a:off x="8020050" y="2171700"/>
            <a:ext cx="457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125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125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125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125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125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125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125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125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125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125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125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rPr>
              <a:t>A1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F2EDA3B-C058-46BF-86B8-84F2523D24BB}"/>
              </a:ext>
            </a:extLst>
          </p:cNvPr>
          <p:cNvSpPr>
            <a:spLocks noGrp="1"/>
          </p:cNvSpPr>
          <p:nvPr/>
        </p:nvSpPr>
        <p:spPr>
          <a:xfrm>
            <a:off x="8620125" y="2152650"/>
            <a:ext cx="2952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2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rPr>
              <a:t>GET /api/cities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4C791D3-80F2-49C9-94A9-A0C3EEF64CC3}"/>
              </a:ext>
            </a:extLst>
          </p:cNvPr>
          <p:cNvSpPr>
            <a:spLocks noGrp="1"/>
          </p:cNvSpPr>
          <p:nvPr/>
        </p:nvSpPr>
        <p:spPr>
          <a:xfrm>
            <a:off x="8620125" y="24574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05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05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05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05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05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05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05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05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05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05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rPr>
              <a:t>城市列表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54F6F8D-13B8-42EC-A732-A61E5B2FEDBB}"/>
              </a:ext>
            </a:extLst>
          </p:cNvPr>
          <p:cNvSpPr>
            <a:spLocks noGrp="1"/>
          </p:cNvSpPr>
          <p:nvPr/>
        </p:nvSpPr>
        <p:spPr>
          <a:xfrm>
            <a:off x="8620125" y="2790825"/>
            <a:ext cx="2762250" cy="9525"/>
          </a:xfrm>
          <a:prstGeom prst="rect">
            <a:avLst/>
          </a:prstGeom>
          <a:solidFill>
            <a:srgbClr val="D9DFDC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3417C79-D512-4B3A-81A8-3BF8AF847D6F}"/>
              </a:ext>
            </a:extLst>
          </p:cNvPr>
          <p:cNvSpPr>
            <a:spLocks noGrp="1"/>
          </p:cNvSpPr>
          <p:nvPr/>
        </p:nvSpPr>
        <p:spPr>
          <a:xfrm>
            <a:off x="8020050" y="3009900"/>
            <a:ext cx="457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125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125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125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125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125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125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125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125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125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125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125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rPr>
              <a:t>A2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9E80134-0AB8-439A-9BD2-2C74C8DD1037}"/>
              </a:ext>
            </a:extLst>
          </p:cNvPr>
          <p:cNvSpPr>
            <a:spLocks noGrp="1"/>
          </p:cNvSpPr>
          <p:nvPr/>
        </p:nvSpPr>
        <p:spPr>
          <a:xfrm>
            <a:off x="8620125" y="2990850"/>
            <a:ext cx="2952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2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rPr>
              <a:t>GET /api/air-quality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D4980A7-9CA1-478D-9C29-2F334E5DCF82}"/>
              </a:ext>
            </a:extLst>
          </p:cNvPr>
          <p:cNvSpPr>
            <a:spLocks noGrp="1"/>
          </p:cNvSpPr>
          <p:nvPr/>
        </p:nvSpPr>
        <p:spPr>
          <a:xfrm>
            <a:off x="8620125" y="32956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05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05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05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05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05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05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05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05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05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05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rPr>
              <a:t>组合筛选明细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F413DFC-95C5-4949-BB6A-228D102C88A6}"/>
              </a:ext>
            </a:extLst>
          </p:cNvPr>
          <p:cNvSpPr>
            <a:spLocks noGrp="1"/>
          </p:cNvSpPr>
          <p:nvPr/>
        </p:nvSpPr>
        <p:spPr>
          <a:xfrm>
            <a:off x="8620125" y="3629025"/>
            <a:ext cx="2762250" cy="9525"/>
          </a:xfrm>
          <a:prstGeom prst="rect">
            <a:avLst/>
          </a:prstGeom>
          <a:solidFill>
            <a:srgbClr val="D9DFDC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6C9925F-3992-4B36-9166-2DE3396F28F0}"/>
              </a:ext>
            </a:extLst>
          </p:cNvPr>
          <p:cNvSpPr>
            <a:spLocks noGrp="1"/>
          </p:cNvSpPr>
          <p:nvPr/>
        </p:nvSpPr>
        <p:spPr>
          <a:xfrm>
            <a:off x="8020050" y="3848100"/>
            <a:ext cx="457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125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125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125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125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125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125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125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125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125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125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125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rPr>
              <a:t>A3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12676BF-9266-4D1F-874C-7A2BB5BA562A}"/>
              </a:ext>
            </a:extLst>
          </p:cNvPr>
          <p:cNvSpPr>
            <a:spLocks noGrp="1"/>
          </p:cNvSpPr>
          <p:nvPr/>
        </p:nvSpPr>
        <p:spPr>
          <a:xfrm>
            <a:off x="8620125" y="3829050"/>
            <a:ext cx="2952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2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rPr>
              <a:t>GET /api/air-quality/stats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32A7E1F0-62AC-408C-AEE4-89980CC9BCB1}"/>
              </a:ext>
            </a:extLst>
          </p:cNvPr>
          <p:cNvSpPr>
            <a:spLocks noGrp="1"/>
          </p:cNvSpPr>
          <p:nvPr/>
        </p:nvSpPr>
        <p:spPr>
          <a:xfrm>
            <a:off x="8620125" y="413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05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05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05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05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05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05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05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05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05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05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rPr>
              <a:t>按城市分组统计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3636B56-C36E-439D-96B9-3975FEA99BC6}"/>
              </a:ext>
            </a:extLst>
          </p:cNvPr>
          <p:cNvSpPr>
            <a:spLocks noGrp="1"/>
          </p:cNvSpPr>
          <p:nvPr/>
        </p:nvSpPr>
        <p:spPr>
          <a:xfrm>
            <a:off x="8620125" y="4467225"/>
            <a:ext cx="2762250" cy="9525"/>
          </a:xfrm>
          <a:prstGeom prst="rect">
            <a:avLst/>
          </a:prstGeom>
          <a:solidFill>
            <a:srgbClr val="D9DFDC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2541895-CF0C-4225-8FAF-7FB6554B2F31}"/>
              </a:ext>
            </a:extLst>
          </p:cNvPr>
          <p:cNvSpPr>
            <a:spLocks noGrp="1"/>
          </p:cNvSpPr>
          <p:nvPr/>
        </p:nvSpPr>
        <p:spPr>
          <a:xfrm>
            <a:off x="8020050" y="4686300"/>
            <a:ext cx="457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125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125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125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125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125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125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125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125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125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125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125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rPr>
              <a:t>A4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B4769980-2269-47A1-9354-024D3D132DB4}"/>
              </a:ext>
            </a:extLst>
          </p:cNvPr>
          <p:cNvSpPr>
            <a:spLocks noGrp="1"/>
          </p:cNvSpPr>
          <p:nvPr/>
        </p:nvSpPr>
        <p:spPr>
          <a:xfrm>
            <a:off x="8620125" y="4667250"/>
            <a:ext cx="2952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2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rPr>
              <a:t>GET /api/air-quality/{id}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FF217F18-B2E1-4AB6-BC10-5019F67DE342}"/>
              </a:ext>
            </a:extLst>
          </p:cNvPr>
          <p:cNvSpPr>
            <a:spLocks noGrp="1"/>
          </p:cNvSpPr>
          <p:nvPr/>
        </p:nvSpPr>
        <p:spPr>
          <a:xfrm>
            <a:off x="8620125" y="49720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05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05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05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05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05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05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05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05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05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05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rPr>
              <a:t>单条记录详情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E0D183C2-0ACC-4468-9613-3DB962046A74}"/>
              </a:ext>
            </a:extLst>
          </p:cNvPr>
          <p:cNvSpPr>
            <a:spLocks noGrp="1"/>
          </p:cNvSpPr>
          <p:nvPr/>
        </p:nvSpPr>
        <p:spPr>
          <a:xfrm>
            <a:off x="8620125" y="5305425"/>
            <a:ext cx="2762250" cy="9525"/>
          </a:xfrm>
          <a:prstGeom prst="rect">
            <a:avLst/>
          </a:prstGeom>
          <a:solidFill>
            <a:srgbClr val="D9DFDC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3E93294F-6962-4137-84F6-C107D3422673}"/>
              </a:ext>
            </a:extLst>
          </p:cNvPr>
          <p:cNvSpPr>
            <a:spLocks noGrp="1"/>
          </p:cNvSpPr>
          <p:nvPr/>
        </p:nvSpPr>
        <p:spPr>
          <a:xfrm>
            <a:off x="8020050" y="5734050"/>
            <a:ext cx="33337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rPr>
              <a:t>Swagger UI 自动生成接口文档，CORS 限制允许的本地来源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C10D5D8C-8FFA-4B46-BD2C-20E5285EC5BB}"/>
              </a:ext>
            </a:extLst>
          </p:cNvPr>
          <p:cNvSpPr>
            <a:spLocks noGrp="1"/>
          </p:cNvSpPr>
          <p:nvPr/>
        </p:nvSpPr>
        <p:spPr>
          <a:xfrm>
            <a:off x="609600" y="6505575"/>
            <a:ext cx="476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rPr>
              <a:t>城市空气质量监测看板</a:t>
            </a:r>
          </a:p>
        </p:txBody>
      </p:sp>
    </p:spTree>
    <p:extLst>
      <p:ext uri="{BB962C8B-B14F-4D97-AF65-F5344CB8AC3E}">
        <p14:creationId xmlns:p14="http://schemas.microsoft.com/office/powerpoint/2010/main" val="9116831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4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矩形 32">
            <a:extLst>
              <a:ext uri="{FF2B5EF4-FFF2-40B4-BE49-F238E27FC236}">
                <a16:creationId xmlns:a16="http://schemas.microsoft.com/office/drawing/2014/main" id="{EAF880A1-F639-4519-809E-1A01B3BD04BE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rPr>
              <a:t>质量保证与工程实践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81E7D51-B529-46A4-994B-5B5144AA2A44}"/>
              </a:ext>
            </a:extLst>
          </p:cNvPr>
          <p:cNvSpPr>
            <a:spLocks noGrp="1"/>
          </p:cNvSpPr>
          <p:nvPr/>
        </p:nvSpPr>
        <p:spPr>
          <a:xfrm>
            <a:off x="628650" y="838200"/>
            <a:ext cx="8858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rPr>
              <a:t>测试覆盖数据初始化、组合筛选、统计、详情和参数校验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7AC092C-1636-46E5-8D29-A11C0AA4C7B6}"/>
              </a:ext>
            </a:extLst>
          </p:cNvPr>
          <p:cNvSpPr>
            <a:spLocks noGrp="1"/>
          </p:cNvSpPr>
          <p:nvPr/>
        </p:nvSpPr>
        <p:spPr>
          <a:xfrm>
            <a:off x="11049000" y="400050"/>
            <a:ext cx="5334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61839A0-371B-46B9-8219-2A1FC5B132A6}"/>
              </a:ext>
            </a:extLst>
          </p:cNvPr>
          <p:cNvSpPr>
            <a:spLocks noGrp="1"/>
          </p:cNvSpPr>
          <p:nvPr/>
        </p:nvSpPr>
        <p:spPr>
          <a:xfrm>
            <a:off x="609600" y="1123950"/>
            <a:ext cx="10972800" cy="9525"/>
          </a:xfrm>
          <a:prstGeom prst="rect">
            <a:avLst/>
          </a:prstGeom>
          <a:solidFill>
            <a:srgbClr val="D9DFDC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E7B0D5B-B3E7-4596-A09B-B66C8D763297}"/>
              </a:ext>
            </a:extLst>
          </p:cNvPr>
          <p:cNvSpPr>
            <a:spLocks noGrp="1"/>
          </p:cNvSpPr>
          <p:nvPr/>
        </p:nvSpPr>
        <p:spPr>
          <a:xfrm>
            <a:off x="685800" y="1504950"/>
            <a:ext cx="4572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71B9278-03C2-4094-96DE-999CCA1D8B68}"/>
              </a:ext>
            </a:extLst>
          </p:cNvPr>
          <p:cNvSpPr>
            <a:spLocks noGrp="1"/>
          </p:cNvSpPr>
          <p:nvPr/>
        </p:nvSpPr>
        <p:spPr>
          <a:xfrm>
            <a:off x="1333500" y="1485900"/>
            <a:ext cx="2381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rPr>
              <a:t>数据库初始化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C0CF9D5-CB79-4B0A-A05D-0BC5939389C7}"/>
              </a:ext>
            </a:extLst>
          </p:cNvPr>
          <p:cNvSpPr>
            <a:spLocks noGrp="1"/>
          </p:cNvSpPr>
          <p:nvPr/>
        </p:nvSpPr>
        <p:spPr>
          <a:xfrm>
            <a:off x="3905250" y="1485900"/>
            <a:ext cx="4953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rPr>
              <a:t>6 个城市，720 条记录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39CA6EE-3EFE-490D-83A2-BEA19714622C}"/>
              </a:ext>
            </a:extLst>
          </p:cNvPr>
          <p:cNvSpPr>
            <a:spLocks noGrp="1"/>
          </p:cNvSpPr>
          <p:nvPr/>
        </p:nvSpPr>
        <p:spPr>
          <a:xfrm>
            <a:off x="10096500" y="1485900"/>
            <a:ext cx="1047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rPr>
              <a:t>通过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8B46F16-E55A-43C2-A479-2073D4739F9E}"/>
              </a:ext>
            </a:extLst>
          </p:cNvPr>
          <p:cNvSpPr>
            <a:spLocks noGrp="1"/>
          </p:cNvSpPr>
          <p:nvPr/>
        </p:nvSpPr>
        <p:spPr>
          <a:xfrm>
            <a:off x="1333500" y="2000250"/>
            <a:ext cx="9810750" cy="9525"/>
          </a:xfrm>
          <a:prstGeom prst="rect">
            <a:avLst/>
          </a:prstGeom>
          <a:solidFill>
            <a:srgbClr val="D9DFDC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C4BCA03-DE11-4B5A-8EA8-D3627A725ED2}"/>
              </a:ext>
            </a:extLst>
          </p:cNvPr>
          <p:cNvSpPr>
            <a:spLocks noGrp="1"/>
          </p:cNvSpPr>
          <p:nvPr/>
        </p:nvSpPr>
        <p:spPr>
          <a:xfrm>
            <a:off x="685800" y="2324100"/>
            <a:ext cx="4572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00" b="1">
                <a:solidFill>
                  <a:srgbClr val="3D7EA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00" b="1">
                <a:solidFill>
                  <a:srgbClr val="3D7EA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00" b="1">
                <a:solidFill>
                  <a:srgbClr val="3D7EA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00" b="1">
                <a:solidFill>
                  <a:srgbClr val="3D7EA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00" b="1">
                <a:solidFill>
                  <a:srgbClr val="3D7EA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00" b="1">
                <a:solidFill>
                  <a:srgbClr val="3D7EA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00" b="1">
                <a:solidFill>
                  <a:srgbClr val="3D7EA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00" b="1">
                <a:solidFill>
                  <a:srgbClr val="3D7EA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00" b="1">
                <a:solidFill>
                  <a:srgbClr val="3D7EA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00" b="1">
                <a:solidFill>
                  <a:srgbClr val="3D7EA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200" b="1">
                <a:solidFill>
                  <a:srgbClr val="3D7EA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3D7EA6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98C4189-3CAE-485E-9304-5D203F6C89ED}"/>
              </a:ext>
            </a:extLst>
          </p:cNvPr>
          <p:cNvSpPr>
            <a:spLocks noGrp="1"/>
          </p:cNvSpPr>
          <p:nvPr/>
        </p:nvSpPr>
        <p:spPr>
          <a:xfrm>
            <a:off x="1333500" y="2305050"/>
            <a:ext cx="2381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rPr>
              <a:t>组合筛选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9EAB17E-B4A2-496F-BC9A-9C3A7A8456FA}"/>
              </a:ext>
            </a:extLst>
          </p:cNvPr>
          <p:cNvSpPr>
            <a:spLocks noGrp="1"/>
          </p:cNvSpPr>
          <p:nvPr/>
        </p:nvSpPr>
        <p:spPr>
          <a:xfrm>
            <a:off x="3905250" y="2305050"/>
            <a:ext cx="4953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rPr>
              <a:t>两城市 30 天返回 60 条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A32A764-2653-430D-9F76-725B460F0286}"/>
              </a:ext>
            </a:extLst>
          </p:cNvPr>
          <p:cNvSpPr>
            <a:spLocks noGrp="1"/>
          </p:cNvSpPr>
          <p:nvPr/>
        </p:nvSpPr>
        <p:spPr>
          <a:xfrm>
            <a:off x="10096500" y="2305050"/>
            <a:ext cx="1047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rPr>
              <a:t>通过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FE69951-C7D0-4864-837C-FCD64EC046BC}"/>
              </a:ext>
            </a:extLst>
          </p:cNvPr>
          <p:cNvSpPr>
            <a:spLocks noGrp="1"/>
          </p:cNvSpPr>
          <p:nvPr/>
        </p:nvSpPr>
        <p:spPr>
          <a:xfrm>
            <a:off x="1333500" y="2819400"/>
            <a:ext cx="9810750" cy="9525"/>
          </a:xfrm>
          <a:prstGeom prst="rect">
            <a:avLst/>
          </a:prstGeom>
          <a:solidFill>
            <a:srgbClr val="D9DFDC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D1A5535-61C9-4D83-B929-0ABA47A27866}"/>
              </a:ext>
            </a:extLst>
          </p:cNvPr>
          <p:cNvSpPr>
            <a:spLocks noGrp="1"/>
          </p:cNvSpPr>
          <p:nvPr/>
        </p:nvSpPr>
        <p:spPr>
          <a:xfrm>
            <a:off x="685800" y="3143250"/>
            <a:ext cx="4572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00" b="1">
                <a:solidFill>
                  <a:srgbClr val="D79D32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00" b="1">
                <a:solidFill>
                  <a:srgbClr val="D79D32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00" b="1">
                <a:solidFill>
                  <a:srgbClr val="D79D32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00" b="1">
                <a:solidFill>
                  <a:srgbClr val="D79D32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00" b="1">
                <a:solidFill>
                  <a:srgbClr val="D79D32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00" b="1">
                <a:solidFill>
                  <a:srgbClr val="D79D32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00" b="1">
                <a:solidFill>
                  <a:srgbClr val="D79D32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00" b="1">
                <a:solidFill>
                  <a:srgbClr val="D79D32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00" b="1">
                <a:solidFill>
                  <a:srgbClr val="D79D32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00" b="1">
                <a:solidFill>
                  <a:srgbClr val="D79D3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200" b="1">
                <a:solidFill>
                  <a:srgbClr val="D79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D79D32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F2D20F6-EF6C-4B0C-A5B9-BC1542A06496}"/>
              </a:ext>
            </a:extLst>
          </p:cNvPr>
          <p:cNvSpPr>
            <a:spLocks noGrp="1"/>
          </p:cNvSpPr>
          <p:nvPr/>
        </p:nvSpPr>
        <p:spPr>
          <a:xfrm>
            <a:off x="1333500" y="3124200"/>
            <a:ext cx="2381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rPr>
              <a:t>分组统计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51FFB04-4C9C-42A4-BFFA-F91B9D325676}"/>
              </a:ext>
            </a:extLst>
          </p:cNvPr>
          <p:cNvSpPr>
            <a:spLocks noGrp="1"/>
          </p:cNvSpPr>
          <p:nvPr/>
        </p:nvSpPr>
        <p:spPr>
          <a:xfrm>
            <a:off x="3905250" y="3124200"/>
            <a:ext cx="4953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rPr>
              <a:t>均值、峰值、低值、优良天占比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37E7C70-E795-48A2-BC1C-1F7007D18E92}"/>
              </a:ext>
            </a:extLst>
          </p:cNvPr>
          <p:cNvSpPr>
            <a:spLocks noGrp="1"/>
          </p:cNvSpPr>
          <p:nvPr/>
        </p:nvSpPr>
        <p:spPr>
          <a:xfrm>
            <a:off x="10096500" y="3124200"/>
            <a:ext cx="1047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rPr>
              <a:t>通过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8F504BDC-2036-4703-A888-3B9360227423}"/>
              </a:ext>
            </a:extLst>
          </p:cNvPr>
          <p:cNvSpPr>
            <a:spLocks noGrp="1"/>
          </p:cNvSpPr>
          <p:nvPr/>
        </p:nvSpPr>
        <p:spPr>
          <a:xfrm>
            <a:off x="1333500" y="3638550"/>
            <a:ext cx="9810750" cy="9525"/>
          </a:xfrm>
          <a:prstGeom prst="rect">
            <a:avLst/>
          </a:prstGeom>
          <a:solidFill>
            <a:srgbClr val="D9DFDC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3F7074B-2CFA-46F4-8D47-A3FC24CAA312}"/>
              </a:ext>
            </a:extLst>
          </p:cNvPr>
          <p:cNvSpPr>
            <a:spLocks noGrp="1"/>
          </p:cNvSpPr>
          <p:nvPr/>
        </p:nvSpPr>
        <p:spPr>
          <a:xfrm>
            <a:off x="685800" y="3962400"/>
            <a:ext cx="4572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00" b="1">
                <a:solidFill>
                  <a:srgbClr val="CC5D3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00" b="1">
                <a:solidFill>
                  <a:srgbClr val="CC5D3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00" b="1">
                <a:solidFill>
                  <a:srgbClr val="CC5D3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00" b="1">
                <a:solidFill>
                  <a:srgbClr val="CC5D3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00" b="1">
                <a:solidFill>
                  <a:srgbClr val="CC5D3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00" b="1">
                <a:solidFill>
                  <a:srgbClr val="CC5D3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00" b="1">
                <a:solidFill>
                  <a:srgbClr val="CC5D3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00" b="1">
                <a:solidFill>
                  <a:srgbClr val="CC5D3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00" b="1">
                <a:solidFill>
                  <a:srgbClr val="CC5D3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00" b="1">
                <a:solidFill>
                  <a:srgbClr val="CC5D3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200" b="1">
                <a:solidFill>
                  <a:srgbClr val="CC5D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C5D3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532A571C-6CAC-4536-9915-A80E566B66CF}"/>
              </a:ext>
            </a:extLst>
          </p:cNvPr>
          <p:cNvSpPr>
            <a:spLocks noGrp="1"/>
          </p:cNvSpPr>
          <p:nvPr/>
        </p:nvSpPr>
        <p:spPr>
          <a:xfrm>
            <a:off x="1333500" y="3943350"/>
            <a:ext cx="2381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rPr>
              <a:t>详情接口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AB488FA3-FA98-4529-9F62-B9E0A0978A2C}"/>
              </a:ext>
            </a:extLst>
          </p:cNvPr>
          <p:cNvSpPr>
            <a:spLocks noGrp="1"/>
          </p:cNvSpPr>
          <p:nvPr/>
        </p:nvSpPr>
        <p:spPr>
          <a:xfrm>
            <a:off x="3905250" y="3943350"/>
            <a:ext cx="4953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rPr>
              <a:t>按 id 返回全部污染物字段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BEFD7F2B-D87B-4208-9DE5-091952CD3247}"/>
              </a:ext>
            </a:extLst>
          </p:cNvPr>
          <p:cNvSpPr>
            <a:spLocks noGrp="1"/>
          </p:cNvSpPr>
          <p:nvPr/>
        </p:nvSpPr>
        <p:spPr>
          <a:xfrm>
            <a:off x="10096500" y="3943350"/>
            <a:ext cx="1047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rPr>
              <a:t>通过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B4C56DD-35F1-432A-BE64-4C0A23B93436}"/>
              </a:ext>
            </a:extLst>
          </p:cNvPr>
          <p:cNvSpPr>
            <a:spLocks noGrp="1"/>
          </p:cNvSpPr>
          <p:nvPr/>
        </p:nvSpPr>
        <p:spPr>
          <a:xfrm>
            <a:off x="1333500" y="4457700"/>
            <a:ext cx="9810750" cy="9525"/>
          </a:xfrm>
          <a:prstGeom prst="rect">
            <a:avLst/>
          </a:prstGeom>
          <a:solidFill>
            <a:srgbClr val="D9DFDC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322E3B13-5A0C-4177-982F-6F4AF834A183}"/>
              </a:ext>
            </a:extLst>
          </p:cNvPr>
          <p:cNvSpPr>
            <a:spLocks noGrp="1"/>
          </p:cNvSpPr>
          <p:nvPr/>
        </p:nvSpPr>
        <p:spPr>
          <a:xfrm>
            <a:off x="685800" y="4781550"/>
            <a:ext cx="4572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00" b="1">
                <a:solidFill>
                  <a:srgbClr val="735D9D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00" b="1">
                <a:solidFill>
                  <a:srgbClr val="735D9D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00" b="1">
                <a:solidFill>
                  <a:srgbClr val="735D9D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00" b="1">
                <a:solidFill>
                  <a:srgbClr val="735D9D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00" b="1">
                <a:solidFill>
                  <a:srgbClr val="735D9D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00" b="1">
                <a:solidFill>
                  <a:srgbClr val="735D9D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00" b="1">
                <a:solidFill>
                  <a:srgbClr val="735D9D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00" b="1">
                <a:solidFill>
                  <a:srgbClr val="735D9D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00" b="1">
                <a:solidFill>
                  <a:srgbClr val="735D9D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00" b="1">
                <a:solidFill>
                  <a:srgbClr val="735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200" b="1">
                <a:solidFill>
                  <a:srgbClr val="735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735D9D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8ADE54AB-6032-4F56-AEA0-1120C06DF4E6}"/>
              </a:ext>
            </a:extLst>
          </p:cNvPr>
          <p:cNvSpPr>
            <a:spLocks noGrp="1"/>
          </p:cNvSpPr>
          <p:nvPr/>
        </p:nvSpPr>
        <p:spPr>
          <a:xfrm>
            <a:off x="1333500" y="4762500"/>
            <a:ext cx="2381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rPr>
              <a:t>错误响应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042B6B64-D8A7-4AAF-818C-6F88FB2FE5A7}"/>
              </a:ext>
            </a:extLst>
          </p:cNvPr>
          <p:cNvSpPr>
            <a:spLocks noGrp="1"/>
          </p:cNvSpPr>
          <p:nvPr/>
        </p:nvSpPr>
        <p:spPr>
          <a:xfrm>
            <a:off x="3905250" y="4762500"/>
            <a:ext cx="4953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rPr>
              <a:t>非法指标返回 400 和明确提示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41AE1F27-AFA7-458E-9BC9-719ECD8E3965}"/>
              </a:ext>
            </a:extLst>
          </p:cNvPr>
          <p:cNvSpPr>
            <a:spLocks noGrp="1"/>
          </p:cNvSpPr>
          <p:nvPr/>
        </p:nvSpPr>
        <p:spPr>
          <a:xfrm>
            <a:off x="10096500" y="4762500"/>
            <a:ext cx="1047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rPr>
              <a:t>通过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777B1667-7E3F-4124-BD99-D805F70D74CD}"/>
              </a:ext>
            </a:extLst>
          </p:cNvPr>
          <p:cNvSpPr>
            <a:spLocks noGrp="1"/>
          </p:cNvSpPr>
          <p:nvPr/>
        </p:nvSpPr>
        <p:spPr>
          <a:xfrm>
            <a:off x="1333500" y="5276850"/>
            <a:ext cx="9810750" cy="9525"/>
          </a:xfrm>
          <a:prstGeom prst="rect">
            <a:avLst/>
          </a:prstGeom>
          <a:solidFill>
            <a:srgbClr val="D9DFDC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473EFC08-BE84-44E0-AC84-DE558FFBE68C}"/>
              </a:ext>
            </a:extLst>
          </p:cNvPr>
          <p:cNvSpPr>
            <a:spLocks noGrp="1"/>
          </p:cNvSpPr>
          <p:nvPr/>
        </p:nvSpPr>
        <p:spPr>
          <a:xfrm>
            <a:off x="685800" y="5667375"/>
            <a:ext cx="10763250" cy="552450"/>
          </a:xfrm>
          <a:prstGeom prst="roundRect">
            <a:avLst>
              <a:gd name="adj" fmla="val 13793"/>
            </a:avLst>
          </a:prstGeom>
          <a:solidFill>
            <a:srgbClr val="163D35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84D5480B-AEF3-44BB-8300-E2913A83D90B}"/>
              </a:ext>
            </a:extLst>
          </p:cNvPr>
          <p:cNvSpPr>
            <a:spLocks noGrp="1"/>
          </p:cNvSpPr>
          <p:nvPr/>
        </p:nvSpPr>
        <p:spPr>
          <a:xfrm>
            <a:off x="914400" y="5743575"/>
            <a:ext cx="10287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mvn test 全部通过    Git 不少于 10 次明确提交    ECharts 资源随 JAR 本地打包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2FAF6968-0FAC-48D6-B328-E15185389865}"/>
              </a:ext>
            </a:extLst>
          </p:cNvPr>
          <p:cNvSpPr>
            <a:spLocks noGrp="1"/>
          </p:cNvSpPr>
          <p:nvPr/>
        </p:nvSpPr>
        <p:spPr>
          <a:xfrm>
            <a:off x="609600" y="6505575"/>
            <a:ext cx="476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rPr>
              <a:t>城市空气质量监测看板</a:t>
            </a:r>
          </a:p>
        </p:txBody>
      </p:sp>
    </p:spTree>
    <p:extLst>
      <p:ext uri="{BB962C8B-B14F-4D97-AF65-F5344CB8AC3E}">
        <p14:creationId xmlns:p14="http://schemas.microsoft.com/office/powerpoint/2010/main" val="15019554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8" name="直接箭头连接符 27">
            <a:extLst>
              <a:ext uri="{FF2B5EF4-FFF2-40B4-BE49-F238E27FC236}">
                <a16:creationId xmlns:a16="http://schemas.microsoft.com/office/drawing/2014/main" id="{6791D1D5-DD4C-496B-AD6B-4A9A0537E956}"/>
              </a:ext>
            </a:extLst>
          </p:cNvPr>
          <p:cNvCxnSpPr>
            <a:stCxn id="17" idx="6"/>
            <a:endCxn id="21" idx="2"/>
          </p:cNvCxnSpPr>
          <p:nvPr/>
        </p:nvCxnSpPr>
        <p:spPr>
          <a:xfrm>
            <a:off x="8115300" y="2305050"/>
            <a:ext cx="1695450" cy="0"/>
          </a:xfrm>
          <a:prstGeom prst="straightConnector1">
            <a:avLst/>
          </a:prstGeom>
          <a:ln w="19050">
            <a:solidFill>
              <a:srgbClr val="1F8A70"/>
            </a:solidFill>
            <a:prstDash val="solid"/>
            <a:tailEnd type="triangle" w="sm" len="sm"/>
          </a:ln>
        </p:spPr>
      </p:cxn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2C2980B1-D214-4D7B-8A3A-B710913DD617}"/>
              </a:ext>
            </a:extLst>
          </p:cNvPr>
          <p:cNvCxnSpPr>
            <a:stCxn id="13" idx="6"/>
            <a:endCxn id="17" idx="2"/>
          </p:cNvCxnSpPr>
          <p:nvPr/>
        </p:nvCxnSpPr>
        <p:spPr>
          <a:xfrm>
            <a:off x="5810250" y="2305050"/>
            <a:ext cx="1695450" cy="0"/>
          </a:xfrm>
          <a:prstGeom prst="straightConnector1">
            <a:avLst/>
          </a:prstGeom>
          <a:ln w="19050">
            <a:solidFill>
              <a:srgbClr val="1F8A70"/>
            </a:solidFill>
            <a:prstDash val="solid"/>
            <a:tailEnd type="triangle" w="sm" len="sm"/>
          </a:ln>
        </p:spPr>
      </p:cxn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6D0E49AE-8413-499F-A64C-BE3E2E460039}"/>
              </a:ext>
            </a:extLst>
          </p:cNvPr>
          <p:cNvCxnSpPr>
            <a:stCxn id="9" idx="6"/>
            <a:endCxn id="13" idx="2"/>
          </p:cNvCxnSpPr>
          <p:nvPr/>
        </p:nvCxnSpPr>
        <p:spPr>
          <a:xfrm>
            <a:off x="3505200" y="2305050"/>
            <a:ext cx="1695450" cy="0"/>
          </a:xfrm>
          <a:prstGeom prst="straightConnector1">
            <a:avLst/>
          </a:prstGeom>
          <a:ln w="19050">
            <a:solidFill>
              <a:srgbClr val="1F8A70"/>
            </a:solidFill>
            <a:prstDash val="solid"/>
            <a:tailEnd type="triangle" w="sm" len="sm"/>
          </a:ln>
        </p:spPr>
      </p:cxn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D3031932-CE48-482B-976F-C1358F32D9DA}"/>
              </a:ext>
            </a:extLst>
          </p:cNvPr>
          <p:cNvCxnSpPr>
            <a:stCxn id="5" idx="6"/>
            <a:endCxn id="9" idx="2"/>
          </p:cNvCxnSpPr>
          <p:nvPr/>
        </p:nvCxnSpPr>
        <p:spPr>
          <a:xfrm>
            <a:off x="1200150" y="2305050"/>
            <a:ext cx="1695450" cy="0"/>
          </a:xfrm>
          <a:prstGeom prst="straightConnector1">
            <a:avLst/>
          </a:prstGeom>
          <a:ln w="19050">
            <a:solidFill>
              <a:srgbClr val="1F8A70"/>
            </a:solidFill>
            <a:prstDash val="solid"/>
            <a:tailEnd type="triangle" w="sm" len="sm"/>
          </a:ln>
        </p:spPr>
      </p:cxnSp>
      <p:sp>
        <p:nvSpPr>
          <p:cNvPr id="34" name="矩形 33">
            <a:extLst>
              <a:ext uri="{FF2B5EF4-FFF2-40B4-BE49-F238E27FC236}">
                <a16:creationId xmlns:a16="http://schemas.microsoft.com/office/drawing/2014/main" id="{FB871D38-9091-421A-BF48-8BF54E77766A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rPr>
              <a:t>现场演示顺序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8F35A52-A961-499A-90E9-AEB097661C3F}"/>
              </a:ext>
            </a:extLst>
          </p:cNvPr>
          <p:cNvSpPr>
            <a:spLocks noGrp="1"/>
          </p:cNvSpPr>
          <p:nvPr/>
        </p:nvSpPr>
        <p:spPr>
          <a:xfrm>
            <a:off x="628650" y="838200"/>
            <a:ext cx="8858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rPr>
              <a:t>建议将完整答辩控制在 5 至 7 分钟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59F2A1F-06D7-4852-AF59-A83ABF9A33B6}"/>
              </a:ext>
            </a:extLst>
          </p:cNvPr>
          <p:cNvSpPr>
            <a:spLocks noGrp="1"/>
          </p:cNvSpPr>
          <p:nvPr/>
        </p:nvSpPr>
        <p:spPr>
          <a:xfrm>
            <a:off x="11049000" y="400050"/>
            <a:ext cx="5334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9B0C44E-0CF5-4DDC-9FB6-08513C11F924}"/>
              </a:ext>
            </a:extLst>
          </p:cNvPr>
          <p:cNvSpPr>
            <a:spLocks noGrp="1"/>
          </p:cNvSpPr>
          <p:nvPr/>
        </p:nvSpPr>
        <p:spPr>
          <a:xfrm>
            <a:off x="609600" y="1123950"/>
            <a:ext cx="10972800" cy="9525"/>
          </a:xfrm>
          <a:prstGeom prst="rect">
            <a:avLst/>
          </a:prstGeom>
          <a:solidFill>
            <a:srgbClr val="D9DFDC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313C6DA6-7D8D-4A37-BD1C-3C7FE5B02B9F}"/>
              </a:ext>
            </a:extLst>
          </p:cNvPr>
          <p:cNvSpPr>
            <a:spLocks noGrp="1"/>
          </p:cNvSpPr>
          <p:nvPr/>
        </p:nvSpPr>
        <p:spPr>
          <a:xfrm>
            <a:off x="590550" y="2000250"/>
            <a:ext cx="609600" cy="609600"/>
          </a:xfrm>
          <a:prstGeom prst="ellipse">
            <a:avLst/>
          </a:prstGeom>
          <a:solidFill>
            <a:srgbClr val="163D35"/>
          </a:solidFill>
          <a:ln w="9525">
            <a:solidFill>
              <a:srgbClr val="163D3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37C6F1F-848B-44E1-9EAF-E1FDCD8D362D}"/>
              </a:ext>
            </a:extLst>
          </p:cNvPr>
          <p:cNvSpPr>
            <a:spLocks noGrp="1"/>
          </p:cNvSpPr>
          <p:nvPr/>
        </p:nvSpPr>
        <p:spPr>
          <a:xfrm>
            <a:off x="590550" y="2000250"/>
            <a:ext cx="609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2F83753-0BF2-4FBC-AE81-D9FD81CC87D5}"/>
              </a:ext>
            </a:extLst>
          </p:cNvPr>
          <p:cNvSpPr>
            <a:spLocks noGrp="1"/>
          </p:cNvSpPr>
          <p:nvPr/>
        </p:nvSpPr>
        <p:spPr>
          <a:xfrm>
            <a:off x="285750" y="2905125"/>
            <a:ext cx="1809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rPr>
              <a:t>筛选联动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4D52D38-84A7-4C46-A4CA-3F1AC272D51D}"/>
              </a:ext>
            </a:extLst>
          </p:cNvPr>
          <p:cNvSpPr>
            <a:spLocks noGrp="1"/>
          </p:cNvSpPr>
          <p:nvPr/>
        </p:nvSpPr>
        <p:spPr>
          <a:xfrm>
            <a:off x="285750" y="3333750"/>
            <a:ext cx="1809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rPr>
              <a:t>城市 日期 指标</a:t>
            </a:r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EF1CB1BC-30A9-49AE-904E-C41A4F9E36A9}"/>
              </a:ext>
            </a:extLst>
          </p:cNvPr>
          <p:cNvSpPr>
            <a:spLocks noGrp="1"/>
          </p:cNvSpPr>
          <p:nvPr/>
        </p:nvSpPr>
        <p:spPr>
          <a:xfrm>
            <a:off x="2895600" y="2000250"/>
            <a:ext cx="609600" cy="609600"/>
          </a:xfrm>
          <a:prstGeom prst="ellipse">
            <a:avLst/>
          </a:prstGeom>
          <a:solidFill>
            <a:srgbClr val="E4F2ED"/>
          </a:solidFill>
          <a:ln w="9525">
            <a:solidFill>
              <a:srgbClr val="B9DDC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1AAFE0A-D124-4C27-A92E-1BFA14F60BB3}"/>
              </a:ext>
            </a:extLst>
          </p:cNvPr>
          <p:cNvSpPr>
            <a:spLocks noGrp="1"/>
          </p:cNvSpPr>
          <p:nvPr/>
        </p:nvSpPr>
        <p:spPr>
          <a:xfrm>
            <a:off x="2895600" y="2000250"/>
            <a:ext cx="609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65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65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65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65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65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65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65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65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65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65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0B6E263-DEE4-4EFD-8829-DD9D1B4ECF3E}"/>
              </a:ext>
            </a:extLst>
          </p:cNvPr>
          <p:cNvSpPr>
            <a:spLocks noGrp="1"/>
          </p:cNvSpPr>
          <p:nvPr/>
        </p:nvSpPr>
        <p:spPr>
          <a:xfrm>
            <a:off x="2590800" y="2905125"/>
            <a:ext cx="1809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rPr>
              <a:t>图表刷新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655E68E-ACDF-4A9A-AEAF-273E52AB4EF1}"/>
              </a:ext>
            </a:extLst>
          </p:cNvPr>
          <p:cNvSpPr>
            <a:spLocks noGrp="1"/>
          </p:cNvSpPr>
          <p:nvPr/>
        </p:nvSpPr>
        <p:spPr>
          <a:xfrm>
            <a:off x="2590800" y="3333750"/>
            <a:ext cx="1809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rPr>
              <a:t>折线 柱状 环形</a:t>
            </a:r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5462EE7E-E284-4BC6-AF0E-999224E7CF0F}"/>
              </a:ext>
            </a:extLst>
          </p:cNvPr>
          <p:cNvSpPr>
            <a:spLocks noGrp="1"/>
          </p:cNvSpPr>
          <p:nvPr/>
        </p:nvSpPr>
        <p:spPr>
          <a:xfrm>
            <a:off x="5200650" y="2000250"/>
            <a:ext cx="609600" cy="609600"/>
          </a:xfrm>
          <a:prstGeom prst="ellipse">
            <a:avLst/>
          </a:prstGeom>
          <a:solidFill>
            <a:srgbClr val="E4F2ED"/>
          </a:solidFill>
          <a:ln w="9525">
            <a:solidFill>
              <a:srgbClr val="B9DDC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6E93156-3C19-46B4-83E7-32298D428EEA}"/>
              </a:ext>
            </a:extLst>
          </p:cNvPr>
          <p:cNvSpPr>
            <a:spLocks noGrp="1"/>
          </p:cNvSpPr>
          <p:nvPr/>
        </p:nvSpPr>
        <p:spPr>
          <a:xfrm>
            <a:off x="5200650" y="2000250"/>
            <a:ext cx="609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65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65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65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65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65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65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65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65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65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65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7638B06-F26A-4065-84C9-738F8E72FD5F}"/>
              </a:ext>
            </a:extLst>
          </p:cNvPr>
          <p:cNvSpPr>
            <a:spLocks noGrp="1"/>
          </p:cNvSpPr>
          <p:nvPr/>
        </p:nvSpPr>
        <p:spPr>
          <a:xfrm>
            <a:off x="4895850" y="2905125"/>
            <a:ext cx="1809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rPr>
              <a:t>明细查询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DF72E71-D0CC-480E-AD6C-A77EF8320BF7}"/>
              </a:ext>
            </a:extLst>
          </p:cNvPr>
          <p:cNvSpPr>
            <a:spLocks noGrp="1"/>
          </p:cNvSpPr>
          <p:nvPr/>
        </p:nvSpPr>
        <p:spPr>
          <a:xfrm>
            <a:off x="4895850" y="3333750"/>
            <a:ext cx="1809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rPr>
              <a:t>分页与单条详情</a:t>
            </a:r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DE6060E4-461F-45E6-9AF0-FA6F8EC00530}"/>
              </a:ext>
            </a:extLst>
          </p:cNvPr>
          <p:cNvSpPr>
            <a:spLocks noGrp="1"/>
          </p:cNvSpPr>
          <p:nvPr/>
        </p:nvSpPr>
        <p:spPr>
          <a:xfrm>
            <a:off x="7505700" y="2000250"/>
            <a:ext cx="609600" cy="609600"/>
          </a:xfrm>
          <a:prstGeom prst="ellipse">
            <a:avLst/>
          </a:prstGeom>
          <a:solidFill>
            <a:srgbClr val="E4F2ED"/>
          </a:solidFill>
          <a:ln w="9525">
            <a:solidFill>
              <a:srgbClr val="B9DDC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272AA45-BE06-40B3-909F-98F6E17D52A2}"/>
              </a:ext>
            </a:extLst>
          </p:cNvPr>
          <p:cNvSpPr>
            <a:spLocks noGrp="1"/>
          </p:cNvSpPr>
          <p:nvPr/>
        </p:nvSpPr>
        <p:spPr>
          <a:xfrm>
            <a:off x="7505700" y="2000250"/>
            <a:ext cx="609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65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65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65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65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65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65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65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65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65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65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951DEB8-9968-4256-8BBB-15F3D1D0FCAF}"/>
              </a:ext>
            </a:extLst>
          </p:cNvPr>
          <p:cNvSpPr>
            <a:spLocks noGrp="1"/>
          </p:cNvSpPr>
          <p:nvPr/>
        </p:nvSpPr>
        <p:spPr>
          <a:xfrm>
            <a:off x="7200900" y="2905125"/>
            <a:ext cx="1809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rPr>
              <a:t>接口验证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07FD72FA-CA56-4C68-9016-C2AACE902C1C}"/>
              </a:ext>
            </a:extLst>
          </p:cNvPr>
          <p:cNvSpPr>
            <a:spLocks noGrp="1"/>
          </p:cNvSpPr>
          <p:nvPr/>
        </p:nvSpPr>
        <p:spPr>
          <a:xfrm>
            <a:off x="7200900" y="3333750"/>
            <a:ext cx="1809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rPr>
              <a:t>Swagger 执行 A2 A3</a:t>
            </a:r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A7300612-D3E8-4277-8EB9-E9F8271EFF31}"/>
              </a:ext>
            </a:extLst>
          </p:cNvPr>
          <p:cNvSpPr>
            <a:spLocks noGrp="1"/>
          </p:cNvSpPr>
          <p:nvPr/>
        </p:nvSpPr>
        <p:spPr>
          <a:xfrm>
            <a:off x="9810750" y="2000250"/>
            <a:ext cx="609600" cy="609600"/>
          </a:xfrm>
          <a:prstGeom prst="ellipse">
            <a:avLst/>
          </a:prstGeom>
          <a:solidFill>
            <a:srgbClr val="E4F2ED"/>
          </a:solidFill>
          <a:ln w="9525">
            <a:solidFill>
              <a:srgbClr val="B9DDC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699E3C41-0652-4497-8537-EC19B6FF626F}"/>
              </a:ext>
            </a:extLst>
          </p:cNvPr>
          <p:cNvSpPr>
            <a:spLocks noGrp="1"/>
          </p:cNvSpPr>
          <p:nvPr/>
        </p:nvSpPr>
        <p:spPr>
          <a:xfrm>
            <a:off x="9810750" y="2000250"/>
            <a:ext cx="609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65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65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65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65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65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65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65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65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65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65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44258D68-E182-423E-B168-25E6882F0FA7}"/>
              </a:ext>
            </a:extLst>
          </p:cNvPr>
          <p:cNvSpPr>
            <a:spLocks noGrp="1"/>
          </p:cNvSpPr>
          <p:nvPr/>
        </p:nvSpPr>
        <p:spPr>
          <a:xfrm>
            <a:off x="9505950" y="2905125"/>
            <a:ext cx="1809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rPr>
              <a:t>工程说明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7CFFBA3C-7840-41C7-B785-D0393483DB86}"/>
              </a:ext>
            </a:extLst>
          </p:cNvPr>
          <p:cNvSpPr>
            <a:spLocks noGrp="1"/>
          </p:cNvSpPr>
          <p:nvPr/>
        </p:nvSpPr>
        <p:spPr>
          <a:xfrm>
            <a:off x="9505950" y="3333750"/>
            <a:ext cx="1809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rPr>
              <a:t>H2 测试 Git 记录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487636FC-C408-4420-809E-06CFCFDA22A3}"/>
              </a:ext>
            </a:extLst>
          </p:cNvPr>
          <p:cNvSpPr>
            <a:spLocks noGrp="1"/>
          </p:cNvSpPr>
          <p:nvPr/>
        </p:nvSpPr>
        <p:spPr>
          <a:xfrm>
            <a:off x="876300" y="4429125"/>
            <a:ext cx="10439400" cy="9525"/>
          </a:xfrm>
          <a:prstGeom prst="rect">
            <a:avLst/>
          </a:prstGeom>
          <a:solidFill>
            <a:srgbClr val="D9DFDC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3C40D999-EEBB-40E5-9DF3-3A0C1D4B44FD}"/>
              </a:ext>
            </a:extLst>
          </p:cNvPr>
          <p:cNvSpPr>
            <a:spLocks noGrp="1"/>
          </p:cNvSpPr>
          <p:nvPr/>
        </p:nvSpPr>
        <p:spPr>
          <a:xfrm>
            <a:off x="1257300" y="4838700"/>
            <a:ext cx="96774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875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875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875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875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875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875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875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875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875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875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rPr>
              <a:t>项目完成课程规定的全部功能，数据来自数据库，接口和前端可以独立验证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95B0A200-5273-4F9A-82F4-37E33A10C408}"/>
              </a:ext>
            </a:extLst>
          </p:cNvPr>
          <p:cNvSpPr>
            <a:spLocks noGrp="1"/>
          </p:cNvSpPr>
          <p:nvPr/>
        </p:nvSpPr>
        <p:spPr>
          <a:xfrm>
            <a:off x="1524000" y="5476875"/>
            <a:ext cx="9144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35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35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35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35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35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35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35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35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35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35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35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rPr>
              <a:t>答辩重点是解释筛选请求如何经过 Controller、Service、Repository 到达 H2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E32EDB19-6C65-4974-8DA2-B028FE858D29}"/>
              </a:ext>
            </a:extLst>
          </p:cNvPr>
          <p:cNvSpPr>
            <a:spLocks noGrp="1"/>
          </p:cNvSpPr>
          <p:nvPr/>
        </p:nvSpPr>
        <p:spPr>
          <a:xfrm>
            <a:off x="4953000" y="6048375"/>
            <a:ext cx="2286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6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6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6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6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6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6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6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6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6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6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rPr>
              <a:t>谢谢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5F07B72A-0426-48C6-84F8-42AA53EF82E6}"/>
              </a:ext>
            </a:extLst>
          </p:cNvPr>
          <p:cNvSpPr>
            <a:spLocks noGrp="1"/>
          </p:cNvSpPr>
          <p:nvPr/>
        </p:nvSpPr>
        <p:spPr>
          <a:xfrm>
            <a:off x="609600" y="6505575"/>
            <a:ext cx="476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rPr>
              <a:t>城市空气质量监测看板</a:t>
            </a:r>
          </a:p>
        </p:txBody>
      </p:sp>
    </p:spTree>
    <p:extLst>
      <p:ext uri="{BB962C8B-B14F-4D97-AF65-F5344CB8AC3E}">
        <p14:creationId xmlns:p14="http://schemas.microsoft.com/office/powerpoint/2010/main" val="62775029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504</Words>
  <Application>Microsoft Office PowerPoint</Application>
  <DocSecurity>0</DocSecurity>
  <PresentationFormat>宽屏</PresentationFormat>
  <Paragraphs>146</Paragraphs>
  <Slides>7</Slides>
  <Notes>7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0" baseType="lpstr">
      <vt:lpstr>Microsoft YaHei</vt:lpstr>
      <vt:lpstr>Aptos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HL9309</cp:lastModifiedBy>
  <cp:revision>2</cp:revision>
  <dcterms:created xsi:type="dcterms:W3CDTF">2026-10-24T11:38:14Z</dcterms:created>
  <dcterms:modified xsi:type="dcterms:W3CDTF">2026-10-24T13:53:50Z</dcterms:modified>
</cp:coreProperties>
</file>