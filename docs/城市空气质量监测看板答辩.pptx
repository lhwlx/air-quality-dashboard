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877daa17fa466d" /><Relationship Type="http://schemas.openxmlformats.org/officeDocument/2006/relationships/extended-properties" Target="/docProps/app.xml" Id="Rbc2f39473fe548cf" /><Relationship Type="http://schemas.openxmlformats.org/officeDocument/2006/relationships/officeDocument" Target="/ppt/presentation.xml" Id="R1618d7a647c44d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8f8706bb4f49ef"/>
  </p:sldMasterIdLst>
  <p:notesMasterIdLst>
    <p:notesMasterId xmlns:r="http://schemas.openxmlformats.org/officeDocument/2006/relationships" r:id="Red42e14323ff45b8"/>
  </p:notesMasterIdLst>
  <p:sldIdLst>
    <p:sldId xmlns:r="http://schemas.openxmlformats.org/officeDocument/2006/relationships" id="256" r:id="R2abbafa7f81a4d5a"/>
    <p:sldId xmlns:r="http://schemas.openxmlformats.org/officeDocument/2006/relationships" id="257" r:id="R9aabfd247fda44a8"/>
    <p:sldId xmlns:r="http://schemas.openxmlformats.org/officeDocument/2006/relationships" id="258" r:id="R34201a5ce2844c05"/>
    <p:sldId xmlns:r="http://schemas.openxmlformats.org/officeDocument/2006/relationships" id="259" r:id="R5e2ef5cefe594dbf"/>
    <p:sldId xmlns:r="http://schemas.openxmlformats.org/officeDocument/2006/relationships" id="260" r:id="Rbbfc142628e8428d"/>
    <p:sldId xmlns:r="http://schemas.openxmlformats.org/officeDocument/2006/relationships" id="261" r:id="R3ec17f7999064373"/>
    <p:sldId xmlns:r="http://schemas.openxmlformats.org/officeDocument/2006/relationships" id="262" r:id="R7f32499fff1542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3b05c83b314685" /><Relationship Type="http://schemas.openxmlformats.org/officeDocument/2006/relationships/slideMaster" Target="/ppt/slideMasters/slideMaster1.xml" Id="R5d8f8706bb4f49ef" /><Relationship Type="http://schemas.openxmlformats.org/officeDocument/2006/relationships/notesMaster" Target="/ppt/notesMasters/notesMaster1.xml" Id="Red42e14323ff45b8" /><Relationship Type="http://schemas.openxmlformats.org/officeDocument/2006/relationships/presProps" Target="/ppt/presProps.xml" Id="R96b0c62d658440ae" /><Relationship Type="http://schemas.openxmlformats.org/officeDocument/2006/relationships/tableStyles" Target="/ppt/tableStyles.xml" Id="R52057abedef14c72" /><Relationship Type="http://schemas.openxmlformats.org/officeDocument/2006/relationships/slide" Target="/ppt/slides/slide1.xml" Id="R2abbafa7f81a4d5a" /><Relationship Type="http://schemas.openxmlformats.org/officeDocument/2006/relationships/slide" Target="/ppt/slides/slide2.xml" Id="R9aabfd247fda44a8" /><Relationship Type="http://schemas.openxmlformats.org/officeDocument/2006/relationships/slide" Target="/ppt/slides/slide3.xml" Id="R34201a5ce2844c05" /><Relationship Type="http://schemas.openxmlformats.org/officeDocument/2006/relationships/slide" Target="/ppt/slides/slide4.xml" Id="R5e2ef5cefe594dbf" /><Relationship Type="http://schemas.openxmlformats.org/officeDocument/2006/relationships/slide" Target="/ppt/slides/slide5.xml" Id="Rbbfc142628e8428d" /><Relationship Type="http://schemas.openxmlformats.org/officeDocument/2006/relationships/slide" Target="/ppt/slides/slide6.xml" Id="R3ec17f7999064373" /><Relationship Type="http://schemas.openxmlformats.org/officeDocument/2006/relationships/slide" Target="/ppt/slides/slide7.xml" Id="R7f32499fff1542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51761ae4054e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8422672cd541aa" /><Relationship Type="http://schemas.openxmlformats.org/officeDocument/2006/relationships/notesMaster" Target="/ppt/notesMasters/notesMaster1.xml" Id="R38216ea31f874f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c520dcf3d5472c" /><Relationship Type="http://schemas.openxmlformats.org/officeDocument/2006/relationships/notesMaster" Target="/ppt/notesMasters/notesMaster1.xml" Id="R8da32868a16548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71c1a064a14b91" /><Relationship Type="http://schemas.openxmlformats.org/officeDocument/2006/relationships/notesMaster" Target="/ppt/notesMasters/notesMaster1.xml" Id="R5a44d7805be543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c6d30899624748" /><Relationship Type="http://schemas.openxmlformats.org/officeDocument/2006/relationships/notesMaster" Target="/ppt/notesMasters/notesMaster1.xml" Id="R5311a0f929af4f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9c7efb6aa24b9f" /><Relationship Type="http://schemas.openxmlformats.org/officeDocument/2006/relationships/notesMaster" Target="/ppt/notesMasters/notesMaster1.xml" Id="R9efd7ff155e840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175a6d7a724fbe" /><Relationship Type="http://schemas.openxmlformats.org/officeDocument/2006/relationships/notesMaster" Target="/ppt/notesMasters/notesMaster1.xml" Id="Re81709a7b6834a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d8066475cc48ee" /><Relationship Type="http://schemas.openxmlformats.org/officeDocument/2006/relationships/notesMaster" Target="/ppt/notesMasters/notesMaster1.xml" Id="Rf6e5d6738e5e49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开场控制在 20 秒。说明项目题目、技术栈和数据规模。提交前补全姓名、班级和学号。不要在这一页展开技术细节。</a:t>
            </a:r>
          </a:p>
          <a:p xmlns:a="http://schemas.openxmlformats.org/drawingml/2006/main">
            <a:r>
              <a:t>来源：课程项目要求和本项目实现。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这一页用 45 秒。左侧说明技术限制，右侧用三个数字说明完成范围。强调项目没有引入 Vue、React 或 axios，数据通过 JPA 从 H2 查询。</a:t>
            </a:r>
          </a:p>
          <a:p xmlns:a="http://schemas.openxmlformats.org/drawingml/2006/main">
            <a:r>
              <a:t>来源：课程项目要求，本项目 README 功能矩阵。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这一页用 50 秒。沿着箭头解释一次请求：浏览器发出 fetch，请求进入 Controller，Service 组合筛选条件，Repository 查询 H2，再返回 JSON。指出 Controller、Service、Repository 的目录位置。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这一页直接配合现场演示。先切换城市和指标，再指出四个摘要值、折线图、柱状图、环形图和表格同步刷新。截图来自本项目真实运行界面。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这一页用 60 秒。左侧数据来自 2026 年 9 月 25 日至 10 月 24 日的项目数据库。右侧说明四组接口。现场可打开 Swagger 执行 A2 和 A3。</a:t>
            </a:r>
          </a:p>
          <a:p xmlns:a="http://schemas.openxmlformats.org/drawingml/2006/main">
            <a:r>
              <a:t>图表来源：本项目 H2 数据库和 /api/air-quality/stats。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这一页用 45 秒。说明测试不是只测工具类，而是启动 Spring 上下文和内存数据库。展示终端中的 BUILD SUCCESS，再展示 git log --oneline。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最后一页用 20 秒总结。不要只说功能完成，要指出自己能解释筛选链路和统计逻辑。随后进入提问。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91b30d115b49a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a5d9bdd1aa45b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5684500e524bd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d7ad3eb09849c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b5a491ed27458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1ccf4bcefe4f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0E7D60-F476-4C23-B846-7A59AEC16A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B82690F-5D81-4D57-AE2B-E7F085A0C29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688894B-0618-44A2-B516-73EE5685B0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68B128-E15B-45CB-B86B-071A21A181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CBA3901-CE72-423F-A348-CB75D33638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FBC498F-8B92-42B3-A754-46F5E0630D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564BAF-A2E5-4353-800F-703E5FC7CB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03221F2-0819-4104-945E-0ADB65ABB1D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E46FCD-6543-49C4-B6B5-D52F8F1573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0C2AAE-063F-4A3F-99E8-47EA818808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5e4798d7cb417f" /><Relationship Type="http://schemas.openxmlformats.org/officeDocument/2006/relationships/slideLayout" Target="/ppt/slideLayouts/slideLayout1.xml" Id="Re1d26bd6fd1141d0" /><Relationship Type="http://schemas.openxmlformats.org/officeDocument/2006/relationships/slideLayout" Target="/ppt/slideLayouts/slideLayout2.xml" Id="Rcc96225135604eba" /><Relationship Type="http://schemas.openxmlformats.org/officeDocument/2006/relationships/slideLayout" Target="/ppt/slideLayouts/slideLayout3.xml" Id="R672ba7bbdb5a4a5d" /><Relationship Type="http://schemas.openxmlformats.org/officeDocument/2006/relationships/slideLayout" Target="/ppt/slideLayouts/slideLayout4.xml" Id="R8c71d264cea94c84" /><Relationship Type="http://schemas.openxmlformats.org/officeDocument/2006/relationships/slideLayout" Target="/ppt/slideLayouts/slideLayout5.xml" Id="Rccb538aae0dc4fa6" /><Relationship Type="http://schemas.openxmlformats.org/officeDocument/2006/relationships/slideLayout" Target="/ppt/slideLayouts/slideLayout6.xml" Id="Ra7b082c15e2f48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d26bd6fd1141d0"/>
    <p:sldLayoutId xmlns:r="http://schemas.openxmlformats.org/officeDocument/2006/relationships" id="2147483650" r:id="Rcc96225135604eba"/>
    <p:sldLayoutId xmlns:r="http://schemas.openxmlformats.org/officeDocument/2006/relationships" id="2147483651" r:id="R672ba7bbdb5a4a5d"/>
    <p:sldLayoutId xmlns:r="http://schemas.openxmlformats.org/officeDocument/2006/relationships" id="2147483652" r:id="R8c71d264cea94c84"/>
    <p:sldLayoutId xmlns:r="http://schemas.openxmlformats.org/officeDocument/2006/relationships" id="2147483653" r:id="Rccb538aae0dc4fa6"/>
    <p:sldLayoutId xmlns:r="http://schemas.openxmlformats.org/officeDocument/2006/relationships" id="2147483654" r:id="Ra7b082c15e2f48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4f3526168f432c" /><Relationship Type="http://schemas.openxmlformats.org/officeDocument/2006/relationships/notesSlide" Target="/ppt/notesSlides/notesSlide1.xml" Id="R7450a4c9520848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ac6ab1c1b148f8" /><Relationship Type="http://schemas.openxmlformats.org/officeDocument/2006/relationships/notesSlide" Target="/ppt/notesSlides/notesSlide2.xml" Id="Reeb25d54302046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2455c474b24f35" /><Relationship Type="http://schemas.openxmlformats.org/officeDocument/2006/relationships/notesSlide" Target="/ppt/notesSlides/notesSlide3.xml" Id="R08aa1ae7bfed45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0867da465c4847" /><Relationship Type="http://schemas.openxmlformats.org/officeDocument/2006/relationships/image" Target="/ppt/media/image.png" Id="R83a753f6f8f649c6" /><Relationship Type="http://schemas.openxmlformats.org/officeDocument/2006/relationships/notesSlide" Target="/ppt/notesSlides/notesSlide4.xml" Id="R05679f7cf00e40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5d43f740a74069" /><Relationship Type="http://schemas.openxmlformats.org/officeDocument/2006/relationships/chart" Target="/ppt/slides/charts/chart1.xml" Id="R4be465c31da7481e" /><Relationship Type="http://schemas.openxmlformats.org/officeDocument/2006/relationships/notesSlide" Target="/ppt/notesSlides/notesSlide5.xml" Id="Re4e30c2b55e644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51a86c8c764a5e" /><Relationship Type="http://schemas.openxmlformats.org/officeDocument/2006/relationships/notesSlide" Target="/ppt/notesSlides/notesSlide6.xml" Id="R28893eb1b78944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f0d28958674d40" /><Relationship Type="http://schemas.openxmlformats.org/officeDocument/2006/relationships/notesSlide" Target="/ppt/notesSlides/notesSlide7.xml" Id="Rc34412cb45054a8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PM2.5 均值</c:v>
          </c:tx>
          <c:spPr>
            <a:solidFill xmlns:a="http://schemas.openxmlformats.org/drawingml/2006/main">
              <a:srgbClr val="3D7EA6"/>
            </a:solidFill>
          </c:spPr>
          <c:invertIfNegative val="0"/>
          <c:cat>
            <c:strLit>
              <c:ptCount val="6"/>
              <c:pt idx="0">
                <c:v>北京</c:v>
              </c:pt>
              <c:pt idx="1">
                <c:v>成都</c:v>
              </c:pt>
              <c:pt idx="2">
                <c:v>西安</c:v>
              </c:pt>
              <c:pt idx="3">
                <c:v>上海</c:v>
              </c:pt>
              <c:pt idx="4">
                <c:v>广州</c:v>
              </c:pt>
              <c:pt idx="5">
                <c:v>杭州</c:v>
              </c:pt>
            </c:strLit>
          </c:cat>
          <c:val>
            <c:numLit>
              <c:formatCode>General</c:formatCode>
              <c:ptCount val="6"/>
              <c:pt idx="0">
                <c:v>61.9</c:v>
              </c:pt>
              <c:pt idx="1">
                <c:v>51.6</c:v>
              </c:pt>
              <c:pt idx="2">
                <c:v>50</c:v>
              </c:pt>
              <c:pt idx="3">
                <c:v>45.6</c:v>
              </c:pt>
              <c:pt idx="4">
                <c:v>38.1</c:v>
              </c:pt>
              <c:pt idx="5">
                <c:v>27.8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DFD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城市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FD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μg/m³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EAE06-5C0F-47BE-9615-CA091DA4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9FD9C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9FD9C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9FD9C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9FD9C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9FD9C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9FD9C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9FD9C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9FD9C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9FD9C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9FD9C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9FD9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FD9C7"/>
                </a:solidFill>
                <a:latin typeface="Microsoft YaHei"/>
                <a:ea typeface="Microsoft YaHei"/>
                <a:cs typeface="Microsoft YaHei"/>
              </a:rPr>
              <a:t>课程项目答辩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5082CB-200C-400C-8A4A-764657CD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城市空气质量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监测看板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D6A9B-F58B-42B5-B1EE-C88BD73B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695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725" b="0">
                <a:solidFill>
                  <a:srgbClr val="D6E9E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D6E9E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D6E9E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D6E9E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D6E9E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D6E9E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D6E9E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D6E9E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D6E9E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D6E9E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D6E9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6E9E2"/>
                </a:solidFill>
                <a:latin typeface="Microsoft YaHei"/>
                <a:ea typeface="Microsoft YaHei"/>
                <a:cs typeface="Microsoft YaHei"/>
              </a:rPr>
              <a:t>Spring Boot 3 + 原生 JavaScript + ECharts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8BAD9-A0AE-4762-AE9C-05922C57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7FD21-F2BA-4042-BD69-E179B36B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 个城市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FFAF6-EA64-4117-AA63-8C76284F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6725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720 条数据库记录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06EC6-2598-4AE3-B894-10E5CB97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672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组 REST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334892-B63A-4DA4-A3F9-15339656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D6E9E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D6E9E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D6E9E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D6E9E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D6E9E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D6E9E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D6E9E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D6E9E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D6E9E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D6E9E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D6E9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6E9E2"/>
                </a:solidFill>
                <a:latin typeface="Microsoft YaHei"/>
                <a:ea typeface="Microsoft YaHei"/>
                <a:cs typeface="Microsoft YaHei"/>
              </a:rPr>
              <a:t>姓名：________    班级：________    学号：________</a:t>
            </a:r>
          </a:p>
        </p:txBody>
      </p:sp>
    </p:spTree>
    <p:extLst>
      <p:ext uri="{BB962C8B-B14F-4D97-AF65-F5344CB8AC3E}">
        <p14:creationId xmlns:p14="http://schemas.microsoft.com/office/powerpoint/2010/main" val="15014081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4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316C75-16B9-4D2E-ADA1-FDBA0224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项目范围与完成情况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C6EC5-A7D4-4DE0-B75D-256373AA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课程要求逐项落地，前端功能、接口和数据量均达到优秀档标准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C64D6-33AF-4970-8319-56B2DF7C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E4BE5-E4D0-499E-95E0-9BAC82A4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1EE94-DFD5-4A45-8EFD-EE2565E6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0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rPr>
              <a:t>课程规定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55ED3-591F-44A4-AE3A-68924E46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DC268-3C2B-4E66-8E7B-C1161346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526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Spring Boot 3 和 JDK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921E4-4981-44D6-A6CB-CA365E15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812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5AD02-88EB-4B04-9C89-EAEF18F6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E3A27-2B71-4DAC-80D2-E78462DE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384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原生 HTML CSS JavaScript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09311-89E8-4D1B-8696-634B5DE8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670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0E6C3-E702-4D05-93B4-F2EBA3B7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38E63A-10DC-449C-8F31-936AE6ED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242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fetch 调用 API，ECharts 绘图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A8A13-0795-4EDE-9FE7-7C6F4FB0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528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450F22-5605-453C-ACFA-806C6677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FF3E6A-1551-4BEB-857C-ECAD91F2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00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数据库查询，不读取静态数据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00AD09-B99B-4786-A5FE-08522CC3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386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0394EE-CC77-46BC-B8DE-2A06FC65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B2E041-EF91-4EF2-BDEA-3C3CF155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958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Swagger、CORS、Git 和 AI 记录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C9F72B-5ECE-4240-8563-7C9D1E5E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244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918D02-B77E-4EB4-9C4E-41EBF8A5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6210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0CB3BF-4346-4DE8-AB52-413E80C7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43050"/>
            <a:ext cx="200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43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263F5B-BD96-4060-8F74-AE8C870D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项前端功能 F1 至 F8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F80708-B2AC-4D1A-B6DD-563ABF24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431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C01D90-7074-41FB-8F28-5F4E5D82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24175"/>
            <a:ext cx="200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435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D1AE7C-ACB0-4E98-866A-D457D4C9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956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组后端接口 A1 至 A4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66AC7D-091D-40F6-AF8C-46CDFBA9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243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A15AED-15CA-436F-98CE-BC090CF5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05300"/>
            <a:ext cx="200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435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rPr>
              <a:t>720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58D0FA-0EF9-4CBB-84CC-7C889B4D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条 H2 数据库记录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04FBCC-F003-4CD3-8E08-48896CEB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rPr>
              <a:t>城市空气质量监测看板</a:t>
            </a:r>
          </a:p>
        </p:txBody>
      </p:sp>
    </p:spTree>
    <p:extLst>
      <p:ext uri="{BB962C8B-B14F-4D97-AF65-F5344CB8AC3E}">
        <p14:creationId xmlns:p14="http://schemas.microsoft.com/office/powerpoint/2010/main" val="18630782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0C5344-18EE-4BD2-BF79-EF5DEE9229F0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239250" y="309562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8A70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ED6166-9344-4E51-BF83-F8110DBB82E6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915150" y="309562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8A70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BD3585-0F8F-4D2F-A5C2-B780D903005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591050" y="309562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8A70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B94B6B-64A9-4ED4-BE85-BE89D70FC4A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66950" y="309562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8A70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F50697-AD82-42AD-A2B0-1FCFD822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系统架构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7BD81-F1EC-434D-BE9C-92BCD2A3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同一 Spring Boot 服务提供静态前端与 REST API，减少现场部署步骤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5401E-D177-49B1-B875-65F7CBB0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6D83E-AC81-4A89-AB4B-821DF829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34C19-4E79-49A9-87FA-CDF316A4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1638300" cy="18097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4F2ED"/>
          </a:solidFill>
          <a:ln xmlns:a="http://schemas.openxmlformats.org/drawingml/2006/main" w="9525">
            <a:solidFill>
              <a:srgbClr val="B9DD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401A9-04A9-4A75-9298-824E0EE9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浏览器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A7677-C39D-4ECE-906C-DCBF6D34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HTML CSS JavaScript</a:t>
            </a:r>
          </a:p>
          <a:p xmlns:a="http://schemas.openxmlformats.org/drawingml/2006/main">
            <a: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fetch 和 ECharts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D99EA5-DA82-4EA5-B742-22F7FB21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1638300" cy="18097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9525">
            <a:solidFill>
              <a:srgbClr val="BAD0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F7A692-401C-490F-8783-62B833F9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28875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28A98-1C3A-4C45-8C1A-4485B08F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00375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参数接收</a:t>
            </a:r>
          </a:p>
          <a:p xmlns:a="http://schemas.openxmlformats.org/drawingml/2006/main">
            <a: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OpenAPI 文档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2E5406-D865-409B-9767-4BFDD97D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90750"/>
            <a:ext cx="1638300" cy="18097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9525">
            <a:solidFill>
              <a:srgbClr val="E9C7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46A335-B0D2-4805-B88C-51F76612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28875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F0D2C3-AD73-40C6-A4E8-F03C0F69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00375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筛选组合</a:t>
            </a:r>
          </a:p>
          <a:p xmlns:a="http://schemas.openxmlformats.org/drawingml/2006/main">
            <a: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指标与统计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49FFCB-B040-47A1-9DC2-C01BDF11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1638300" cy="18097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ECF7"/>
          </a:solidFill>
          <a:ln xmlns:a="http://schemas.openxmlformats.org/drawingml/2006/main" w="9525">
            <a:solidFill>
              <a:srgbClr val="D4C4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D6149D-462A-466E-B64F-85706000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28875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Repository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37BD81-E2D8-487C-B325-B6FA236A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00375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JPA Specification</a:t>
            </a:r>
          </a:p>
          <a:p xmlns:a="http://schemas.openxmlformats.org/drawingml/2006/main">
            <a: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实体查询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9CCCA2-2E9A-4563-94BA-8182014C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90750"/>
            <a:ext cx="1638300" cy="18097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8E8E3"/>
          </a:solidFill>
          <a:ln xmlns:a="http://schemas.openxmlformats.org/drawingml/2006/main" w="9525">
            <a:solidFill>
              <a:srgbClr val="E1B7A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1A0F44-3EF5-49DB-81FD-46405346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28875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H2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BC66A0-22A4-4157-8363-EA640FF3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00375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文件数据库</a:t>
            </a:r>
          </a:p>
          <a:p xmlns:a="http://schemas.openxmlformats.org/drawingml/2006/main">
            <a:pPr algn="ctr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720 条记录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197227-0568-4609-8B9C-5262F6DB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0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rPr>
              <a:t>分层职责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4C1FDB-1221-4064-A52F-4D8E8107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Controller 只处理 HTTP 契约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179275-A072-4505-9302-8157B4A3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197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Service 负责筛选和统计规则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FB200E-4D20-49B5-8751-2EF78BCE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197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Repository 负责数据库访问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A5DF65-DB36-4C11-80EF-76B5F3D5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32AA05-CBB7-476E-80AB-E5A388DC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首次启动由 DemoDataInitializer 写入 6 个城市和连续 120 天数据，后续启动不重复插入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0D7353-7E79-42C4-B3C2-19F7AA73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rPr>
              <a:t>城市空气质量监测看板</a:t>
            </a:r>
          </a:p>
        </p:txBody>
      </p:sp>
    </p:spTree>
    <p:extLst>
      <p:ext uri="{BB962C8B-B14F-4D97-AF65-F5344CB8AC3E}">
        <p14:creationId xmlns:p14="http://schemas.microsoft.com/office/powerpoint/2010/main" val="11903725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4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34E1E6-5418-44A2-9379-8C87CAD9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看板界面与交互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C0AF97-2AB3-426D-849B-3AEABC66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筛选条件同时驱动摘要指标、三类图表和每页 10 条的明细表格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8583D7-0207-4845-8145-1F919561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A320E-A299-4B92-8DBE-1C2C84F0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26FE2-F4C2-4026-B09A-24C824AEC8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753f6f8f649c6"/>
          <a:stretch xmlns:a="http://schemas.openxmlformats.org/drawingml/2006/main"/>
        </p:blipFill>
        <p:spPr>
          <a:xfrm xmlns:a="http://schemas.openxmlformats.org/drawingml/2006/main">
            <a:off x="958561" y="1352550"/>
            <a:ext cx="6483927" cy="4953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7141D-D414-43CA-B1F8-40D1F14F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716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3AB037-4435-42D0-AC3D-46A7A02F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2400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多城市与日期筛选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DDE25-4F8D-459A-87A4-983266ED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240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默认最近 30 天，城市可多选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2CE7AA-029E-4C57-ADF7-AEB94785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146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F31ECA-25A1-4524-A5D7-37A76E74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6700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六项指标切换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D1B402-26EF-4CDA-B431-86622F13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67050"/>
            <a:ext cx="271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PM2.5、PM10、SO₂、NO₂、O₃、AQI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40FF5-D352-4A1D-8979-2891B285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576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DB8114-83DC-48D6-9542-F809201F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三类图表联动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9BD58-70FA-4DB5-9C79-719F5203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10050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趋势、城市均值、质量等级分布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B523F0-B2E3-4FB4-86C1-109F8D43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006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CC5D3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CC5D3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CC5D3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CC5D3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CC5D3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CC5D3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CC5D3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CC5D3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CC5D3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CC5D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CC5D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C5D3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0106AC-2590-4575-A2A7-A60BFA49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5300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分页与记录详情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A53C49-2B46-4CD4-948C-203BCA7B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3530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详情按钮单独调用 A4 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333001-499C-43A3-B6CF-2E56E0F8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rPr>
              <a:t>城市空气质量监测看板</a:t>
            </a:r>
          </a:p>
        </p:txBody>
      </p:sp>
    </p:spTree>
    <p:extLst>
      <p:ext uri="{BB962C8B-B14F-4D97-AF65-F5344CB8AC3E}">
        <p14:creationId xmlns:p14="http://schemas.microsoft.com/office/powerpoint/2010/main" val="11983067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2B7E73-288E-40B5-B894-6C32EDBD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数据与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B6840-0810-470A-A0D1-60DF8E34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最近 30 天 PM2.5 均值示例，图表数据来自数据库查询结果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C04C9-6647-4F43-B450-A00B7765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FA33D-E7BE-4D71-91BD-CB7CED96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C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1AAD3AD-55BE-47BE-8516-E81A740BA018}"/>
              </a:ext>
            </a:extLst>
          </p:cNvPr>
          <p:cNvGraphicFramePr/>
          <p:nvPr/>
        </p:nvGraphicFramePr>
        <p:xfrm>
          <a:off xmlns:a="http://schemas.openxmlformats.org/drawingml/2006/main" x="590550" y="1600200"/>
          <a:ext xmlns:a="http://schemas.openxmlformats.org/drawingml/2006/main" cx="6858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e465c31da7481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4AEE4-C210-4BD4-9831-DC9F2BB2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71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rPr>
              <a:t>REST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58ACBB-BA55-4157-937B-2C107290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717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rPr>
              <a:t>A1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EDA3B-C058-46BF-86B8-84F2523D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526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GET /api/cities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791D3-80F2-49C9-94A9-A0C3EEF6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57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城市列表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4F6F8D-13B8-42EC-A732-A61E5B2F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90825"/>
            <a:ext cx="276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417C79-D512-4B3A-81A8-3BF8AF84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099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rPr>
              <a:t>A2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E80134-0AB8-439A-9BD2-2C74C8DD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908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GET /api/air-quality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4980A7-9CA1-478D-9C29-2F334E5D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295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组合筛选明细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413DFC-95C5-4949-BB6A-228D102C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29025"/>
            <a:ext cx="276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C9925F-3992-4B36-9166-2DE3396F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48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rPr>
              <a:t>A3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2676BF-9266-4D1F-874C-7A2BB5BA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290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GET /api/air-quality/stats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A7E1F0-62AC-408C-AEE4-89980CC9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133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按城市分组统计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636B56-C36E-439D-96B9-3975FEA9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67225"/>
            <a:ext cx="276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541895-CF0C-4225-8FAF-7FB6554B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86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rPr>
              <a:t>A4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769980-2269-47A1-9354-024D3D13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6672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GET /api/air-quality/{id}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217F18-B2E1-4AB6-BC10-5019F67D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972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单条记录详情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D183C2-0ACC-4468-9613-3DB96204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305425"/>
            <a:ext cx="276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93294F-6962-4137-84F6-C107D342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7340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Swagger UI 自动生成接口文档，CORS 限制允许的本地来源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0D5D8C-8FFA-4B46-BD2C-20E5285E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rPr>
              <a:t>城市空气质量监测看板</a:t>
            </a:r>
          </a:p>
        </p:txBody>
      </p:sp>
    </p:spTree>
    <p:extLst>
      <p:ext uri="{BB962C8B-B14F-4D97-AF65-F5344CB8AC3E}">
        <p14:creationId xmlns:p14="http://schemas.microsoft.com/office/powerpoint/2010/main" val="9116831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4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F880A1-F639-4519-809E-1A01B3BD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质量保证与工程实践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E7D51-B529-46A4-994B-5B5144AA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测试覆盖数据初始化、组合筛选、统计、详情和参数校验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C092C-1636-46E5-8D29-A11C0AA4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839A0-371B-46B9-8219-2A1FC5B1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B0D5B-B3E7-4596-A09B-B66C8D76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B9278-03C2-4094-96DE-999CCA1D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859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数据库初始化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0CF9D5-CB79-4B0A-A05D-0BC59393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859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6 个城市，720 条记录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CA6EE-3EFE-490D-83A2-BEA19714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859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46F16-E55A-43C2-A479-2073D473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002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BCA03-DE11-4B5A-8EA8-D3627A72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7EA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C4189-3CAE-485E-9304-5D203F6C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050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组合筛选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EAB17E-B4A2-496F-BC9A-9C3A7A84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050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两城市 30 天返回 60 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32A764-2653-430D-9F76-725B460F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0505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69951-C7D0-4864-837C-FCD64EC0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194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A5535-61C9-4D83-B929-0ABA47A2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79D3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2D20F6-EF6C-4B0C-A5B9-BC1542A0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242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分组统计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1FFB04-4C9C-42A4-BFFA-F91B9D32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242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均值、峰值、低值、优良天占比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7E7C70-E795-48A2-BC1C-1F7007D1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242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504BDC-2036-4703-A888-3B936022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38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F7074B-2CFA-46F4-8D47-A3FC24CA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CC5D3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CC5D3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CC5D3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CC5D3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CC5D3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CC5D3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CC5D3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CC5D3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CC5D3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CC5D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CC5D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C5D3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2A571C-6CAC-4536-9915-A80E566B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433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详情接口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488FA3-FA98-4529-9F62-B9E0A097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433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按 id 返回全部污染物字段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FD7F2B-D87B-4208-9DE5-091952CD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4335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4C56DD-35F1-432A-BE64-4C0A23B9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2E3B13-5A0C-4177-982F-6F4AF834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735D9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735D9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735D9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735D9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735D9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735D9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735D9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735D9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735D9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735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35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35D9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DE54AB-6032-4F56-AEA0-1120C06D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62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错误响应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2B6B64-D8A7-4AAF-818C-6F88FB2F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625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非法指标返回 400 和明确提示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AE1F27-AFA7-458E-9BC9-719ECD8E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7625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7B1667-7E3F-4124-BD99-D805F70D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768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3EFC08-BE84-44E0-AC84-DE558FFB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763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63D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D5480B-AEF3-44BB-8300-E2913A83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435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mvn test 全部通过    Git 不少于 10 次明确提交    ECharts 资源随 JAR 本地打包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AF6968-0FAC-48D6-B328-E1518538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rPr>
              <a:t>城市空气质量监测看板</a:t>
            </a:r>
          </a:p>
        </p:txBody>
      </p:sp>
    </p:spTree>
    <p:extLst>
      <p:ext uri="{BB962C8B-B14F-4D97-AF65-F5344CB8AC3E}">
        <p14:creationId xmlns:p14="http://schemas.microsoft.com/office/powerpoint/2010/main" val="15019554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91D1D5-DD4C-496B-AD6B-4A9A0537E956}"/>
              </a:ext>
            </a:extLst>
          </p:cNvPr>
          <p:cNvCxnSpPr>
            <a:stCxn xmlns:a="http://schemas.openxmlformats.org/drawingml/2006/main" id="17" idx="6"/>
            <a:endCxn xmlns:a="http://schemas.openxmlformats.org/drawingml/2006/main" id="21" idx="2"/>
          </p:cNvCxnSpPr>
          <p:nvPr/>
        </p:nvCxnSpPr>
        <p:spPr>
          <a:xfrm xmlns:a="http://schemas.openxmlformats.org/drawingml/2006/main">
            <a:off x="8115300" y="2305050"/>
            <a:ext cx="1695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8A70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2980B1-D214-4D7B-8A3A-B710913DD617}"/>
              </a:ext>
            </a:extLst>
          </p:cNvPr>
          <p:cNvCxnSpPr>
            <a:stCxn xmlns:a="http://schemas.openxmlformats.org/drawingml/2006/main" id="13" idx="6"/>
            <a:endCxn xmlns:a="http://schemas.openxmlformats.org/drawingml/2006/main" id="17" idx="2"/>
          </p:cNvCxnSpPr>
          <p:nvPr/>
        </p:nvCxnSpPr>
        <p:spPr>
          <a:xfrm xmlns:a="http://schemas.openxmlformats.org/drawingml/2006/main">
            <a:off x="5810250" y="2305050"/>
            <a:ext cx="1695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8A70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0E49AE-8413-499F-A64C-BE3E2E460039}"/>
              </a:ext>
            </a:extLst>
          </p:cNvPr>
          <p:cNvCxnSpPr>
            <a:stCxn xmlns:a="http://schemas.openxmlformats.org/drawingml/2006/main" id="9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3505200" y="2305050"/>
            <a:ext cx="1695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8A70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031932-CE48-482B-976F-C1358F32D9DA}"/>
              </a:ext>
            </a:extLst>
          </p:cNvPr>
          <p:cNvCxnSpPr>
            <a:stCxn xmlns:a="http://schemas.openxmlformats.org/drawingml/2006/main" id="5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1200150" y="2305050"/>
            <a:ext cx="1695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8A70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871D38-9091-421A-BF48-8BF54E77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现场演示顺序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35A52-A961-499A-90E9-AEB09766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建议将完整答辩控制在 5 至 7 分钟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F2A1F-06D7-4852-AF59-A83ABF9A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0C44E-0CF5-4DDC-9FB6-08513C11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C6DA6-7D8D-4A37-BD1C-3C7FE5B0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D35"/>
          </a:solidFill>
          <a:ln xmlns:a="http://schemas.openxmlformats.org/drawingml/2006/main" w="9525">
            <a:solidFill>
              <a:srgbClr val="163D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C6F1F-848B-44E1-9EAF-E1FDCD8D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83753-0BF2-4FBC-AE81-D9FD81CC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9051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筛选联动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52D38-84A7-4C46-A4CA-3F1AC272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337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城市 日期 指标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1CB1BC-30A9-49AE-904E-C41A4F9E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2ED"/>
          </a:solidFill>
          <a:ln xmlns:a="http://schemas.openxmlformats.org/drawingml/2006/main" w="9525">
            <a:solidFill>
              <a:srgbClr val="B9DD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AFE0A-D124-4C27-A92E-1BFA14F6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6E263-DEE4-4EFD-8829-DD9D1B4E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051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图表刷新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5E68E-ACDF-4A9A-AEAF-273E52AB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337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折线 柱状 环形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62EE7E-E284-4BC6-AF0E-999224E7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2ED"/>
          </a:solidFill>
          <a:ln xmlns:a="http://schemas.openxmlformats.org/drawingml/2006/main" w="9525">
            <a:solidFill>
              <a:srgbClr val="B9DD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E93156-3C19-46B4-83E7-32298D42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638B06-F26A-4065-84C9-738F8E72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051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明细查询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F72E71-D0CC-480E-AD6C-A77EF832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337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分页与单条详情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6060E4-461F-45E6-9AF0-FA6F8EC0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00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2ED"/>
          </a:solidFill>
          <a:ln xmlns:a="http://schemas.openxmlformats.org/drawingml/2006/main" w="9525">
            <a:solidFill>
              <a:srgbClr val="B9DD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72AA45-BE06-40B3-909F-98F6E17D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002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51DEB8-9968-4256-8BBB-15F3D1D0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051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接口验证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FD72FA-CA56-4C68-9016-C2AACE90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337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Swagger 执行 A2 A3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300612-D3E8-4277-8EB9-E9F8271E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00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2ED"/>
          </a:solidFill>
          <a:ln xmlns:a="http://schemas.openxmlformats.org/drawingml/2006/main" w="9525">
            <a:solidFill>
              <a:srgbClr val="B9DD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9E3C41-0652-4497-8537-EC19B6FF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002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258D68-E182-423E-B168-25E6882F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051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211F"/>
                </a:solidFill>
                <a:latin typeface="Microsoft YaHei"/>
                <a:ea typeface="Microsoft YaHei"/>
                <a:cs typeface="Microsoft YaHei"/>
              </a:rPr>
              <a:t>工程说明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FFBA3C-7840-41C7-B785-D0393483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337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H2 测试 Git 记录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7636FC-C408-4420-809E-06CFCFDA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29125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40D999-EEBB-40E5-9DF3-3A0C1D4B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38700"/>
            <a:ext cx="967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D35"/>
                </a:solidFill>
                <a:latin typeface="Microsoft YaHei"/>
                <a:ea typeface="Microsoft YaHei"/>
                <a:cs typeface="Microsoft YaHei"/>
              </a:rPr>
              <a:t>项目完成课程规定的全部功能，数据来自数据库，接口和前端可以独立验证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B0A200-5273-4F9A-82F4-37E33A10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6D"/>
                </a:solidFill>
                <a:latin typeface="Microsoft YaHei"/>
                <a:ea typeface="Microsoft YaHei"/>
                <a:cs typeface="Microsoft YaHei"/>
              </a:rPr>
              <a:t>答辩重点是解释筛选请求如何经过 Controller、Service、Repository 到达 H2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2EDB19-6C65-4974-8DA2-B028FE85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0483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8A70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07B72A-0426-48C6-84F8-42AA53EF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9390"/>
                </a:solidFill>
                <a:latin typeface="Microsoft YaHei"/>
                <a:ea typeface="Microsoft YaHei"/>
                <a:cs typeface="Microsoft YaHei"/>
              </a:rPr>
              <a:t>城市空气质量监测看板</a:t>
            </a:r>
          </a:p>
        </p:txBody>
      </p:sp>
    </p:spTree>
    <p:extLst>
      <p:ext uri="{BB962C8B-B14F-4D97-AF65-F5344CB8AC3E}">
        <p14:creationId xmlns:p14="http://schemas.microsoft.com/office/powerpoint/2010/main" val="6277502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2026-10-24T11:38:14.4080000Z</dcterms:created>
  <dcterms:modified xsi:type="dcterms:W3CDTF">2026-10-24T11:38:14.4080000Z</dcterms:modified>
</coreProperties>
</file>