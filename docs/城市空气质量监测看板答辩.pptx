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2"/>
  </p:sldMasterIdLst>
  <p:notesMasterIdLst>
    <p:notesMasterId r:id="rId12"/>
  </p:notesMasterIdLst>
  <p:sldIdLst>
    <p:sldId id="262" r:id="rId3"/>
    <p:sldId id="257" r:id="rId4"/>
    <p:sldId id="258" r:id="rId5"/>
    <p:sldId id="265" r:id="rId6"/>
    <p:sldId id="263" r:id="rId7"/>
    <p:sldId id="259" r:id="rId8"/>
    <p:sldId id="264" r:id="rId9"/>
    <p:sldId id="261" r:id="rId10"/>
    <p:sldId id="271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20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各位老师好，我们是第 9 组，今天汇报的项目是城市空气质量监测看板。本项目面向跨城市、跨日期、跨指标的空气质量观察，把一次分析任务压缩为少量筛选动作，让用户在同一个工作台里完成总体判断、趋势比较和明细下钻。下面按项目概况、看板规划、数据与数据库、系统接口和验收安排五个部分展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这一页用 45 秒。左侧说明技术限制，右侧用三个数字说明完成范围。强调项目没有引入 Vue、React 或 axios，数据通过 JPA 从 H2 查询。</a:t>
            </a:r>
          </a:p>
          <a:p>
            <a:r>
              <a:t>来源：课程项目要求，本项目 README 功能矩阵。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这一页用 50 秒。沿着箭头解释一次请求：浏览器发出 fetch，请求进入 Controller，Service 组合筛选条件，Repository 查询 H2，再返回 JSON。指出 Controller、Service、Repository 的目录位置。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首版采用可复现的演示数据，系统首次启动时通过 JPA 写入 H2 文件数据库。页面和接口不从静态文件返回数据，这样筛选、统计和详情查询都能验证数据库访问链路。当前数据量适合单体应用，不需要分布式存储或预计算。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页面采用左侧筛选、右侧分析的工作台结构。顶部状态栏给出系统身份与服务状态；左侧筛选面板固定分析条件；主区域按摘要指标—趋势—比较与分布—明细组织。这个顺序对应用户的分析路径，也让第一屏优先显示最需要决策的信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这一页直接配合现场演示。先切换城市和指标，再指出四个摘要值、折线图、柱状图、环形图和表格同步刷新。截图来自本项目真实运行界面。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响应式按 1120、760、430 三个断点调整布局。可访问性方面，图表有语义化标签、控件保留键盘焦点、错误用提示条、加载有遮罩。移动端优先保证筛选、摘要和趋势可读，再通过滚动和分页处理明细。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这一页用 45 秒。说明测试不是只测工具类，而是启动 Spring 上下文和内存数据库。展示终端中的 BUILD SUCCESS，再展示 git log --oneline。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以上就是我们第 9 组的项目汇报。欢迎老师和同学提问，我们可以现场打开 Swagger、H2 控制台或看板页面做演示。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cs-CZ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cs typeface="Arial" charset="0"/>
                <a:sym typeface="Arial" charset="0"/>
              </a:rPr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80E7D60-F476-4C23-B846-7A59AEC16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B82690F-5D81-4D57-AE2B-E7F085A0C2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688894B-0618-44A2-B516-73EE5685B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68B128-E15B-45CB-B86B-071A21A1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CBA3901-CE72-423F-A348-CB75D33638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FBC498F-8B92-42B3-A754-46F5E0630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C564BAF-A2E5-4353-800F-703E5FC7C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303221F2-0819-4104-945E-0ADB65ABB1D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8E46FCD-6543-49C4-B6B5-D52F8F157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F0C2AAE-063F-4A3F-99E8-47EA818808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3874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835265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charset="0"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  <a:sym typeface="Arial" charset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4A3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52400" cy="6858000"/>
          </a:xfrm>
          <a:prstGeom prst="roundRect">
            <a:avLst>
              <a:gd name="adj" fmla="val 0"/>
            </a:avLst>
          </a:prstGeom>
          <a:solidFill>
            <a:srgbClr val="7A9B8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3" name="AutoShape 3"/>
          <p:cNvSpPr txBox="1"/>
          <p:nvPr/>
        </p:nvSpPr>
        <p:spPr>
          <a:xfrm>
            <a:off x="1016000" y="1143000"/>
            <a:ext cx="1016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B4C8B9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PROJECT PLANNING · COURSE ASSIGNMENT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4" name="AutoShape 4"/>
          <p:cNvSpPr txBox="1"/>
          <p:nvPr/>
        </p:nvSpPr>
        <p:spPr>
          <a:xfrm>
            <a:off x="1016000" y="1778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4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城市空气质量监测看板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5" name="AutoShape 5"/>
          <p:cNvSpPr txBox="1"/>
          <p:nvPr/>
        </p:nvSpPr>
        <p:spPr>
          <a:xfrm>
            <a:off x="1016000" y="2794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>
                <a:ln>
                  <a:noFill/>
                </a:ln>
                <a:solidFill>
                  <a:srgbClr val="C8D7CD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跨城市空气质量监测、比较与明细查询的一体化数字看板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cxnSp>
        <p:nvCxnSpPr>
          <p:cNvPr id="6" name="Connector 6"/>
          <p:cNvCxnSpPr/>
          <p:nvPr/>
        </p:nvCxnSpPr>
        <p:spPr>
          <a:xfrm rot="-28647">
            <a:off x="1016026" y="3676650"/>
            <a:ext cx="152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7A9B82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7" name="AutoShape 7"/>
          <p:cNvSpPr txBox="1"/>
          <p:nvPr/>
        </p:nvSpPr>
        <p:spPr>
          <a:xfrm>
            <a:off x="1016000" y="3937000"/>
            <a:ext cx="635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课程作业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：</a:t>
            </a:r>
            <a:r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结课</a:t>
            </a: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作业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　|　</a:t>
            </a: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分组：第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 9 组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小组成员：卢浩、钱沛桥、李梦琪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DCE6DE"/>
              </a:solidFill>
              <a:effectLst/>
              <a:uLnTx/>
              <a:uFillTx/>
              <a:latin typeface="Noto Sans SC"/>
              <a:ea typeface="Noto Sans SC"/>
              <a:cs typeface="Noto Sans SC"/>
              <a:sym typeface="Noto Sans SC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项目仓库：LHWLX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 / air-quality-dashboard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DCE6D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提交日期：2026 年 10 月 25 日　|　文档版本：V1.0</a:t>
            </a:r>
          </a:p>
        </p:txBody>
      </p:sp>
      <p:sp>
        <p:nvSpPr>
          <p:cNvPr id="8" name="AutoShape 8"/>
          <p:cNvSpPr txBox="1"/>
          <p:nvPr/>
        </p:nvSpPr>
        <p:spPr>
          <a:xfrm>
            <a:off x="8128000" y="5461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B4C8B9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6 城市 · 120 天 · 720 条记录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  <a:p>
            <a:pPr marL="0" marR="0" lvl="0" indent="0" algn="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rgbClr val="B4C8B9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4 类 REST API · 3 类图表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FB316C75-16B9-4D2E-ADA1-FDBA02246D3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项目范围与完成情况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11C6EC5-A7D4-4DE0-B75D-256373AA14E7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课程要求逐项落地，前端功能、接口和数据量均达到优秀档标准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83C64D6-33AF-4970-8319-56B2DF7C0549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2E4BE5-E4D0-499E-95E0-9BAC82A4B8A3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C1EE94-DFD5-4A45-8EFD-EE2565E6F445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课程规定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755ED3-591F-44A4-AE3A-68924E46A08C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0DC268-3C2B-4E66-8E7B-C116134616C8}"/>
              </a:ext>
            </a:extLst>
          </p:cNvPr>
          <p:cNvSpPr>
            <a:spLocks noGrp="1"/>
          </p:cNvSpPr>
          <p:nvPr/>
        </p:nvSpPr>
        <p:spPr>
          <a:xfrm>
            <a:off x="1200150" y="19526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nl-NL"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Spring Boot 3 和 JDK 25</a:t>
            </a:r>
            <a:endParaRPr sz="1500" b="1">
              <a:solidFill>
                <a:srgbClr val="18211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A921E4-4981-44D6-A6CB-CA365E15DD86}"/>
              </a:ext>
            </a:extLst>
          </p:cNvPr>
          <p:cNvSpPr>
            <a:spLocks noGrp="1"/>
          </p:cNvSpPr>
          <p:nvPr/>
        </p:nvSpPr>
        <p:spPr>
          <a:xfrm>
            <a:off x="1200150" y="23812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5C5AD02-88EB-4B04-9C89-EAEF18F60C7D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6E3A27-2B71-4DAC-80D2-E78462DE5905}"/>
              </a:ext>
            </a:extLst>
          </p:cNvPr>
          <p:cNvSpPr>
            <a:spLocks noGrp="1"/>
          </p:cNvSpPr>
          <p:nvPr/>
        </p:nvSpPr>
        <p:spPr>
          <a:xfrm>
            <a:off x="1200150" y="26384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原生 HTML CSS JavaScript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C309311-89E8-4D1B-8696-634B5DE8522B}"/>
              </a:ext>
            </a:extLst>
          </p:cNvPr>
          <p:cNvSpPr>
            <a:spLocks noGrp="1"/>
          </p:cNvSpPr>
          <p:nvPr/>
        </p:nvSpPr>
        <p:spPr>
          <a:xfrm>
            <a:off x="1200150" y="30670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C0E6C3-E702-4D05-93B4-F2EBA3B71FBD}"/>
              </a:ext>
            </a:extLst>
          </p:cNvPr>
          <p:cNvSpPr>
            <a:spLocks noGrp="1"/>
          </p:cNvSpPr>
          <p:nvPr/>
        </p:nvSpPr>
        <p:spPr>
          <a:xfrm>
            <a:off x="685800" y="33528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D38E63A-10DC-449C-8F31-936AE6EDCBCE}"/>
              </a:ext>
            </a:extLst>
          </p:cNvPr>
          <p:cNvSpPr>
            <a:spLocks noGrp="1"/>
          </p:cNvSpPr>
          <p:nvPr/>
        </p:nvSpPr>
        <p:spPr>
          <a:xfrm>
            <a:off x="1200150" y="33242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fetch 调用 API，ECharts 绘图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E4A8A13-0795-4EDE-9FE7-7C6F4FB00148}"/>
              </a:ext>
            </a:extLst>
          </p:cNvPr>
          <p:cNvSpPr>
            <a:spLocks noGrp="1"/>
          </p:cNvSpPr>
          <p:nvPr/>
        </p:nvSpPr>
        <p:spPr>
          <a:xfrm>
            <a:off x="1200150" y="37528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450F22-5605-453C-ACFA-806C66774DE8}"/>
              </a:ext>
            </a:extLst>
          </p:cNvPr>
          <p:cNvSpPr>
            <a:spLocks noGrp="1"/>
          </p:cNvSpPr>
          <p:nvPr/>
        </p:nvSpPr>
        <p:spPr>
          <a:xfrm>
            <a:off x="685800" y="40386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DFF3E6A-1551-4BEB-857C-ECAD91F2C9BE}"/>
              </a:ext>
            </a:extLst>
          </p:cNvPr>
          <p:cNvSpPr>
            <a:spLocks noGrp="1"/>
          </p:cNvSpPr>
          <p:nvPr/>
        </p:nvSpPr>
        <p:spPr>
          <a:xfrm>
            <a:off x="1200150" y="40100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数据库查询，不读取静态数据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00AD09-B99B-4786-A5FE-08522CC3EA84}"/>
              </a:ext>
            </a:extLst>
          </p:cNvPr>
          <p:cNvSpPr>
            <a:spLocks noGrp="1"/>
          </p:cNvSpPr>
          <p:nvPr/>
        </p:nvSpPr>
        <p:spPr>
          <a:xfrm>
            <a:off x="1200150" y="44386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20394EE-CC77-46BC-B8DE-2A06FC6524CC}"/>
              </a:ext>
            </a:extLst>
          </p:cNvPr>
          <p:cNvSpPr>
            <a:spLocks noGrp="1"/>
          </p:cNvSpPr>
          <p:nvPr/>
        </p:nvSpPr>
        <p:spPr>
          <a:xfrm>
            <a:off x="685800" y="47244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B2E041-EF91-4EF2-BDEA-3C3CF155B066}"/>
              </a:ext>
            </a:extLst>
          </p:cNvPr>
          <p:cNvSpPr>
            <a:spLocks noGrp="1"/>
          </p:cNvSpPr>
          <p:nvPr/>
        </p:nvSpPr>
        <p:spPr>
          <a:xfrm>
            <a:off x="1200150" y="4695825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Swagger、CORS、Git 和 AI 记录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DC9F72B-5ECE-4240-8563-7C9D1E5E27C2}"/>
              </a:ext>
            </a:extLst>
          </p:cNvPr>
          <p:cNvSpPr>
            <a:spLocks noGrp="1"/>
          </p:cNvSpPr>
          <p:nvPr/>
        </p:nvSpPr>
        <p:spPr>
          <a:xfrm>
            <a:off x="1200150" y="5124450"/>
            <a:ext cx="4095750" cy="9525"/>
          </a:xfrm>
          <a:prstGeom prst="rect">
            <a:avLst/>
          </a:prstGeom>
          <a:solidFill>
            <a:srgbClr val="DEE4E1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C918D02-B77E-4EB4-9C4E-41EBF8A5D4BD}"/>
              </a:ext>
            </a:extLst>
          </p:cNvPr>
          <p:cNvSpPr>
            <a:spLocks noGrp="1"/>
          </p:cNvSpPr>
          <p:nvPr/>
        </p:nvSpPr>
        <p:spPr>
          <a:xfrm>
            <a:off x="5905500" y="1562100"/>
            <a:ext cx="19050" cy="0"/>
          </a:xfrm>
          <a:prstGeom prst="rect">
            <a:avLst/>
          </a:prstGeom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70CB3BF-4346-4DE8-AB52-413E80C7C072}"/>
              </a:ext>
            </a:extLst>
          </p:cNvPr>
          <p:cNvSpPr>
            <a:spLocks noGrp="1"/>
          </p:cNvSpPr>
          <p:nvPr/>
        </p:nvSpPr>
        <p:spPr>
          <a:xfrm>
            <a:off x="6477000" y="1543050"/>
            <a:ext cx="2000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263F5B-BD96-4060-8F74-AE8C870D1C40}"/>
              </a:ext>
            </a:extLst>
          </p:cNvPr>
          <p:cNvSpPr>
            <a:spLocks noGrp="1"/>
          </p:cNvSpPr>
          <p:nvPr/>
        </p:nvSpPr>
        <p:spPr>
          <a:xfrm>
            <a:off x="8572500" y="1714500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项前端功能 F1 至 F8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1F80708-B2AC-4D1A-B6DD-563ABF2443EF}"/>
              </a:ext>
            </a:extLst>
          </p:cNvPr>
          <p:cNvSpPr>
            <a:spLocks noGrp="1"/>
          </p:cNvSpPr>
          <p:nvPr/>
        </p:nvSpPr>
        <p:spPr>
          <a:xfrm>
            <a:off x="6477000" y="2543175"/>
            <a:ext cx="47625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AC01D90-7074-41FB-8F28-5F4E5D82573E}"/>
              </a:ext>
            </a:extLst>
          </p:cNvPr>
          <p:cNvSpPr>
            <a:spLocks noGrp="1"/>
          </p:cNvSpPr>
          <p:nvPr/>
        </p:nvSpPr>
        <p:spPr>
          <a:xfrm>
            <a:off x="6477000" y="2924175"/>
            <a:ext cx="2000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8D1AE7C-ACB0-4E98-866A-D457D4C9DB10}"/>
              </a:ext>
            </a:extLst>
          </p:cNvPr>
          <p:cNvSpPr>
            <a:spLocks noGrp="1"/>
          </p:cNvSpPr>
          <p:nvPr/>
        </p:nvSpPr>
        <p:spPr>
          <a:xfrm>
            <a:off x="8572500" y="3095625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组后端接口 A1 至 A4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866AC7D-091D-40F6-AF8C-46CDFBA9A8D5}"/>
              </a:ext>
            </a:extLst>
          </p:cNvPr>
          <p:cNvSpPr>
            <a:spLocks noGrp="1"/>
          </p:cNvSpPr>
          <p:nvPr/>
        </p:nvSpPr>
        <p:spPr>
          <a:xfrm>
            <a:off x="6477000" y="3924300"/>
            <a:ext cx="47625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4A15AED-15CA-436F-98CE-BC090CF53326}"/>
              </a:ext>
            </a:extLst>
          </p:cNvPr>
          <p:cNvSpPr>
            <a:spLocks noGrp="1"/>
          </p:cNvSpPr>
          <p:nvPr/>
        </p:nvSpPr>
        <p:spPr>
          <a:xfrm>
            <a:off x="6477000" y="4305300"/>
            <a:ext cx="2000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rPr>
              <a:t>720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58D0FA-0EF9-4CBB-84CC-7C889B4D8852}"/>
              </a:ext>
            </a:extLst>
          </p:cNvPr>
          <p:cNvSpPr>
            <a:spLocks noGrp="1"/>
          </p:cNvSpPr>
          <p:nvPr/>
        </p:nvSpPr>
        <p:spPr>
          <a:xfrm>
            <a:off x="8572500" y="4476750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条 H2 数据库记录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E04FBCC-F003-4CD3-8E08-48896CEB5409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1863078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00C5344-18EE-4BD2-BF79-EF5DEE9229F0}"/>
              </a:ext>
            </a:extLst>
          </p:cNvPr>
          <p:cNvCxnSpPr>
            <a:stCxn id="14" idx="3"/>
            <a:endCxn id="17" idx="1"/>
          </p:cNvCxnSpPr>
          <p:nvPr/>
        </p:nvCxnSpPr>
        <p:spPr>
          <a:xfrm>
            <a:off x="9239250" y="3095625"/>
            <a:ext cx="68580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ED6166-9344-4E51-BF83-F8110DBB82E6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>
            <a:off x="6915150" y="3095625"/>
            <a:ext cx="68580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EBD3585-0F8F-4D2F-A5C2-B780D9030058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4591050" y="3095625"/>
            <a:ext cx="68580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4B94B6B-64A9-4ED4-BE85-BE89D70FC4AC}"/>
              </a:ext>
            </a:extLst>
          </p:cNvPr>
          <p:cNvCxnSpPr>
            <a:stCxn id="5" idx="3"/>
            <a:endCxn id="8" idx="1"/>
          </p:cNvCxnSpPr>
          <p:nvPr/>
        </p:nvCxnSpPr>
        <p:spPr>
          <a:xfrm>
            <a:off x="2266950" y="3095625"/>
            <a:ext cx="685800" cy="0"/>
          </a:xfrm>
          <a:prstGeom prst="straightConnector1">
            <a:avLst/>
          </a:prstGeom>
          <a:ln w="19050">
            <a:solidFill>
              <a:srgbClr val="1F8A70"/>
            </a:solidFill>
            <a:prstDash val="solid"/>
            <a:tailEnd type="triangle" w="sm" len="sm"/>
          </a:ln>
        </p:spPr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19F50697-AD82-42AD-A2B0-1FCFD822DF7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系统架构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17BD81-F1EC-434D-BE9C-92BCD2A35F8D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同一 Spring Boot 服务提供静态前端与 REST API，减少现场部署步骤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95401E-D177-49B1-B875-65F7CBB0C5CF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586D83E-AC81-4A89-AB4B-821DF8291365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E634C19-4E79-49A9-87FA-CDF316A4BD11}"/>
              </a:ext>
            </a:extLst>
          </p:cNvPr>
          <p:cNvSpPr>
            <a:spLocks noGrp="1"/>
          </p:cNvSpPr>
          <p:nvPr/>
        </p:nvSpPr>
        <p:spPr>
          <a:xfrm>
            <a:off x="6286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E4F2ED"/>
          </a:solidFill>
          <a:ln w="9525">
            <a:solidFill>
              <a:srgbClr val="B9DDC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E401A9-04A9-4A75-9298-824E0EE97BCE}"/>
              </a:ext>
            </a:extLst>
          </p:cNvPr>
          <p:cNvSpPr>
            <a:spLocks noGrp="1"/>
          </p:cNvSpPr>
          <p:nvPr/>
        </p:nvSpPr>
        <p:spPr>
          <a:xfrm>
            <a:off x="8001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浏览器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4A7677-C39D-4ECE-906C-DCBF6D34EF12}"/>
              </a:ext>
            </a:extLst>
          </p:cNvPr>
          <p:cNvSpPr>
            <a:spLocks noGrp="1"/>
          </p:cNvSpPr>
          <p:nvPr/>
        </p:nvSpPr>
        <p:spPr>
          <a:xfrm>
            <a:off x="7810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HTML CSS JavaScript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fetch 和 ECharts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7D99EA5-DA82-4EA5-B742-22F7FB21997B}"/>
              </a:ext>
            </a:extLst>
          </p:cNvPr>
          <p:cNvSpPr>
            <a:spLocks noGrp="1"/>
          </p:cNvSpPr>
          <p:nvPr/>
        </p:nvSpPr>
        <p:spPr>
          <a:xfrm>
            <a:off x="29527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E8F1F6"/>
          </a:solidFill>
          <a:ln w="9525">
            <a:solidFill>
              <a:srgbClr val="BAD0D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7F7A692-401C-490F-8783-62B833F91553}"/>
              </a:ext>
            </a:extLst>
          </p:cNvPr>
          <p:cNvSpPr>
            <a:spLocks noGrp="1"/>
          </p:cNvSpPr>
          <p:nvPr/>
        </p:nvSpPr>
        <p:spPr>
          <a:xfrm>
            <a:off x="31242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Controller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0528A98-1C3A-4C45-8C1A-4485B08F2C28}"/>
              </a:ext>
            </a:extLst>
          </p:cNvPr>
          <p:cNvSpPr>
            <a:spLocks noGrp="1"/>
          </p:cNvSpPr>
          <p:nvPr/>
        </p:nvSpPr>
        <p:spPr>
          <a:xfrm>
            <a:off x="31051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参数接收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OpenAPI 文档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E2E5406-D865-409B-9767-4BFDD97DCF06}"/>
              </a:ext>
            </a:extLst>
          </p:cNvPr>
          <p:cNvSpPr>
            <a:spLocks noGrp="1"/>
          </p:cNvSpPr>
          <p:nvPr/>
        </p:nvSpPr>
        <p:spPr>
          <a:xfrm>
            <a:off x="52768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FFF2D8"/>
          </a:solidFill>
          <a:ln w="9525">
            <a:solidFill>
              <a:srgbClr val="E9C77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E46A335-B0D2-4805-B88C-51F76612B8C9}"/>
              </a:ext>
            </a:extLst>
          </p:cNvPr>
          <p:cNvSpPr>
            <a:spLocks noGrp="1"/>
          </p:cNvSpPr>
          <p:nvPr/>
        </p:nvSpPr>
        <p:spPr>
          <a:xfrm>
            <a:off x="54483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Service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8F0D2C3-AD73-40C6-A4E8-F03C0F69EAC5}"/>
              </a:ext>
            </a:extLst>
          </p:cNvPr>
          <p:cNvSpPr>
            <a:spLocks noGrp="1"/>
          </p:cNvSpPr>
          <p:nvPr/>
        </p:nvSpPr>
        <p:spPr>
          <a:xfrm>
            <a:off x="54292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筛选组合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指标与统计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349FFCB-B040-47A1-9DC2-C01BDF115623}"/>
              </a:ext>
            </a:extLst>
          </p:cNvPr>
          <p:cNvSpPr>
            <a:spLocks noGrp="1"/>
          </p:cNvSpPr>
          <p:nvPr/>
        </p:nvSpPr>
        <p:spPr>
          <a:xfrm>
            <a:off x="76009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F2ECF7"/>
          </a:solidFill>
          <a:ln w="9525">
            <a:solidFill>
              <a:srgbClr val="D4C4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6D6149D-462A-466E-B64F-85706000C484}"/>
              </a:ext>
            </a:extLst>
          </p:cNvPr>
          <p:cNvSpPr>
            <a:spLocks noGrp="1"/>
          </p:cNvSpPr>
          <p:nvPr/>
        </p:nvSpPr>
        <p:spPr>
          <a:xfrm>
            <a:off x="77724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Repository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37BD81-E2D8-487C-B325-B6FA236A0008}"/>
              </a:ext>
            </a:extLst>
          </p:cNvPr>
          <p:cNvSpPr>
            <a:spLocks noGrp="1"/>
          </p:cNvSpPr>
          <p:nvPr/>
        </p:nvSpPr>
        <p:spPr>
          <a:xfrm>
            <a:off x="77533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JPA Specification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实体查询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219CCCA2-2E9A-4563-94BA-8182014C3182}"/>
              </a:ext>
            </a:extLst>
          </p:cNvPr>
          <p:cNvSpPr>
            <a:spLocks noGrp="1"/>
          </p:cNvSpPr>
          <p:nvPr/>
        </p:nvSpPr>
        <p:spPr>
          <a:xfrm>
            <a:off x="9925050" y="2190750"/>
            <a:ext cx="1638300" cy="1809750"/>
          </a:xfrm>
          <a:prstGeom prst="roundRect">
            <a:avLst>
              <a:gd name="adj" fmla="val 4651"/>
            </a:avLst>
          </a:prstGeom>
          <a:solidFill>
            <a:srgbClr val="F8E8E3"/>
          </a:solidFill>
          <a:ln w="9525">
            <a:solidFill>
              <a:srgbClr val="E1B7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1A0F44-3EF5-49DB-81FD-464053460978}"/>
              </a:ext>
            </a:extLst>
          </p:cNvPr>
          <p:cNvSpPr>
            <a:spLocks noGrp="1"/>
          </p:cNvSpPr>
          <p:nvPr/>
        </p:nvSpPr>
        <p:spPr>
          <a:xfrm>
            <a:off x="10096500" y="2428875"/>
            <a:ext cx="1295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H2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9BC66A0-22A4-4157-8363-EA640FF30DDA}"/>
              </a:ext>
            </a:extLst>
          </p:cNvPr>
          <p:cNvSpPr>
            <a:spLocks noGrp="1"/>
          </p:cNvSpPr>
          <p:nvPr/>
        </p:nvSpPr>
        <p:spPr>
          <a:xfrm>
            <a:off x="10077450" y="3000375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文件数据库</a:t>
            </a:r>
          </a:p>
          <a:p>
            <a:pPr algn="ctr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720 条记录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197227-0568-4609-8B9C-5262F6DB3D67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D35"/>
                </a:solidFill>
                <a:latin typeface="Microsoft YaHei"/>
                <a:ea typeface="Microsoft YaHei"/>
                <a:cs typeface="Microsoft YaHei"/>
              </a:rPr>
              <a:t>分层职责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C4C1FDB-1221-4064-A52F-4D8E8107AAFB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Controller 只处理 HTTP 契约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179275-A072-4505-9302-8157B4A357DD}"/>
              </a:ext>
            </a:extLst>
          </p:cNvPr>
          <p:cNvSpPr>
            <a:spLocks noGrp="1"/>
          </p:cNvSpPr>
          <p:nvPr/>
        </p:nvSpPr>
        <p:spPr>
          <a:xfrm>
            <a:off x="4381500" y="52197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Service 负责筛选和统计规则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BFB200E-4D20-49B5-8751-2EF78BCEE8D5}"/>
              </a:ext>
            </a:extLst>
          </p:cNvPr>
          <p:cNvSpPr>
            <a:spLocks noGrp="1"/>
          </p:cNvSpPr>
          <p:nvPr/>
        </p:nvSpPr>
        <p:spPr>
          <a:xfrm>
            <a:off x="8077200" y="52197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Repository 负责数据库访问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A5DF65-DB36-4C11-80EF-76B5F3D57CFD}"/>
              </a:ext>
            </a:extLst>
          </p:cNvPr>
          <p:cNvSpPr>
            <a:spLocks noGrp="1"/>
          </p:cNvSpPr>
          <p:nvPr/>
        </p:nvSpPr>
        <p:spPr>
          <a:xfrm>
            <a:off x="685800" y="5715000"/>
            <a:ext cx="106680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732AA05-CBB7-476E-80AB-E5A388DC24FF}"/>
              </a:ext>
            </a:extLst>
          </p:cNvPr>
          <p:cNvSpPr>
            <a:spLocks noGrp="1"/>
          </p:cNvSpPr>
          <p:nvPr/>
        </p:nvSpPr>
        <p:spPr>
          <a:xfrm>
            <a:off x="685800" y="5905500"/>
            <a:ext cx="1057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首次启动由 DemoDataInitializer 写入 6 个城市和连续 120 天数据，后续启动不重复插入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0D7353-7E79-42C4-B3C2-19F7AA7320E1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1190372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1016000" y="5080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03 · 数据来源与规模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3" name="AutoShape 3"/>
          <p:cNvSpPr txBox="1"/>
          <p:nvPr/>
        </p:nvSpPr>
        <p:spPr>
          <a:xfrm>
            <a:off x="1016000" y="8382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26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演示数据由 JPA 启动时写入 H2，固定种子可复现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4" name="AutoShape 4"/>
          <p:cNvSpPr txBox="1"/>
          <p:nvPr/>
        </p:nvSpPr>
        <p:spPr>
          <a:xfrm>
            <a:off x="1016000" y="1778000"/>
            <a:ext cx="228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4400" b="1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6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5" name="AutoShape 5"/>
          <p:cNvSpPr txBox="1"/>
          <p:nvPr/>
        </p:nvSpPr>
        <p:spPr>
          <a:xfrm>
            <a:off x="1016000" y="25400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5A646C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监测城市（跨五大区）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6" name="AutoShape 6"/>
          <p:cNvSpPr txBox="1"/>
          <p:nvPr/>
        </p:nvSpPr>
        <p:spPr>
          <a:xfrm>
            <a:off x="3556000" y="1778000"/>
            <a:ext cx="228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4400" b="1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120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7" name="AutoShape 7"/>
          <p:cNvSpPr txBox="1"/>
          <p:nvPr/>
        </p:nvSpPr>
        <p:spPr>
          <a:xfrm>
            <a:off x="3556000" y="25400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5A646C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连续天数（启动当天往前）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8" name="AutoShape 8"/>
          <p:cNvSpPr txBox="1"/>
          <p:nvPr/>
        </p:nvSpPr>
        <p:spPr>
          <a:xfrm>
            <a:off x="6096000" y="1778000"/>
            <a:ext cx="228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4400" b="1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720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9" name="AutoShape 9"/>
          <p:cNvSpPr txBox="1"/>
          <p:nvPr/>
        </p:nvSpPr>
        <p:spPr>
          <a:xfrm>
            <a:off x="6096000" y="2540000"/>
            <a:ext cx="228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5A646C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逐日记录总数（6 × 120）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0" name="AutoShape 10"/>
          <p:cNvSpPr txBox="1"/>
          <p:nvPr/>
        </p:nvSpPr>
        <p:spPr>
          <a:xfrm>
            <a:off x="8636000" y="1778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4400" b="1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10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1" name="AutoShape 11"/>
          <p:cNvSpPr txBox="1"/>
          <p:nvPr/>
        </p:nvSpPr>
        <p:spPr>
          <a:xfrm>
            <a:off x="8636000" y="2540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5A646C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每条记录字段数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cxnSp>
        <p:nvCxnSpPr>
          <p:cNvPr id="12" name="Connector 12"/>
          <p:cNvCxnSpPr/>
          <p:nvPr/>
        </p:nvCxnSpPr>
        <p:spPr>
          <a:xfrm rot="-4297">
            <a:off x="1016004" y="3168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2DAD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 txBox="1"/>
          <p:nvPr/>
        </p:nvSpPr>
        <p:spPr>
          <a:xfrm>
            <a:off x="1016000" y="3429000"/>
            <a:ext cx="508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数据生成规则（DemoDataInitializer）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4" name="AutoShape 14"/>
          <p:cNvSpPr txBox="1"/>
          <p:nvPr/>
        </p:nvSpPr>
        <p:spPr>
          <a:xfrm>
            <a:off x="1016000" y="3873500"/>
            <a:ext cx="5080000" cy="215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北京、上海、广州、成都、西安、杭州建立城市档案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不同城市使用不同污染物基线 + 周期项 + 高斯扰动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固定随机种子 2026，同一版本可重复生成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AQI 取五项污染物相对阈值最大值，映射 5 级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首次启动写入；已有记录则跳过，幂等不重复插入</a:t>
            </a:r>
          </a:p>
        </p:txBody>
      </p:sp>
      <p:sp>
        <p:nvSpPr>
          <p:cNvPr id="15" name="AutoShape 15"/>
          <p:cNvSpPr txBox="1"/>
          <p:nvPr/>
        </p:nvSpPr>
        <p:spPr>
          <a:xfrm>
            <a:off x="6604000" y="3429000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查询规模与容量边界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6604000" y="3873500"/>
          <a:ext cx="4572000" cy="2159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61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3C464E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默认查询（6 城 × 30 天）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4C7A5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180 条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3C464E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小范围查询（2 城 × 30 天）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4C7A5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60 条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3C464E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单次最大明细查询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4C7A5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720 条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3C464E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单位规范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C464E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μg/m³ · AQI 整数</a:t>
                      </a:r>
                      <a:endParaRPr lang="en-US" sz="1100"/>
                    </a:p>
                  </a:txBody>
                  <a:tcPr marL="101600" marR="101600" marT="101600" marB="1016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1016000" y="5080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02 · 看板展示规划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3" name="AutoShape 3"/>
          <p:cNvSpPr txBox="1"/>
          <p:nvPr/>
        </p:nvSpPr>
        <p:spPr>
          <a:xfrm>
            <a:off x="1016000" y="8382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26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「左侧筛选、右侧分析」的工作台：一屏完成条件设置与下钻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016000" y="1651000"/>
            <a:ext cx="10160000" cy="431800"/>
          </a:xfrm>
          <a:prstGeom prst="roundRect">
            <a:avLst>
              <a:gd name="adj" fmla="val 0"/>
            </a:avLst>
          </a:prstGeom>
          <a:solidFill>
            <a:srgbClr val="4C7A5A">
              <a:alpha val="15000"/>
            </a:srgbClr>
          </a:solidFill>
          <a:ln w="12700" cap="flat" cmpd="sng">
            <a:solidFill>
              <a:srgbClr val="4C7A5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5" name="AutoShape 5"/>
          <p:cNvSpPr txBox="1"/>
          <p:nvPr/>
        </p:nvSpPr>
        <p:spPr>
          <a:xfrm>
            <a:off x="1143000" y="1701800"/>
            <a:ext cx="990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顶部状态栏：项目名称 · 服务状态 · 当前时间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2159000"/>
            <a:ext cx="2286000" cy="3683000"/>
          </a:xfrm>
          <a:prstGeom prst="roundRect">
            <a:avLst>
              <a:gd name="adj" fmla="val 0"/>
            </a:avLst>
          </a:prstGeom>
          <a:solidFill>
            <a:srgbClr val="7A9B82">
              <a:alpha val="18000"/>
            </a:srgbClr>
          </a:solidFill>
          <a:ln w="12700" cap="flat" cmpd="sng">
            <a:solidFill>
              <a:srgbClr val="7A9B82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7" name="AutoShape 7"/>
          <p:cNvSpPr txBox="1"/>
          <p:nvPr/>
        </p:nvSpPr>
        <p:spPr>
          <a:xfrm>
            <a:off x="1143000" y="22860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左侧筛选面板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8" name="AutoShape 8"/>
          <p:cNvSpPr txBox="1"/>
          <p:nvPr/>
        </p:nvSpPr>
        <p:spPr>
          <a:xfrm>
            <a:off x="1143000" y="2667000"/>
            <a:ext cx="2032000" cy="304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多城市复选框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起止日期输入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六项指标单选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更新 / 重置按钮</a:t>
            </a:r>
          </a:p>
        </p:txBody>
      </p:sp>
      <p:sp>
        <p:nvSpPr>
          <p:cNvPr id="9" name="AutoShape 9"/>
          <p:cNvSpPr/>
          <p:nvPr/>
        </p:nvSpPr>
        <p:spPr>
          <a:xfrm>
            <a:off x="3429000" y="2159000"/>
            <a:ext cx="7747000" cy="762000"/>
          </a:xfrm>
          <a:prstGeom prst="roundRect">
            <a:avLst>
              <a:gd name="adj" fmla="val 0"/>
            </a:avLst>
          </a:prstGeom>
          <a:solidFill>
            <a:srgbClr val="4C7A5A">
              <a:alpha val="10000"/>
            </a:srgbClr>
          </a:solidFill>
          <a:ln w="12700" cap="flat" cmpd="sng">
            <a:solidFill>
              <a:srgbClr val="4C7A5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0" name="AutoShape 10"/>
          <p:cNvSpPr txBox="1"/>
          <p:nvPr/>
        </p:nvSpPr>
        <p:spPr>
          <a:xfrm>
            <a:off x="3556000" y="2260600"/>
            <a:ext cx="7493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摘要指标区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1" name="AutoShape 11"/>
          <p:cNvSpPr txBox="1"/>
          <p:nvPr/>
        </p:nvSpPr>
        <p:spPr>
          <a:xfrm>
            <a:off x="3556000" y="2565400"/>
            <a:ext cx="7493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5A646C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平均浓度 · 优良天占比 · 记录数量 · 峰值城市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3429000" y="3048000"/>
            <a:ext cx="3810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8D2C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3" name="AutoShape 13"/>
          <p:cNvSpPr txBox="1"/>
          <p:nvPr/>
        </p:nvSpPr>
        <p:spPr>
          <a:xfrm>
            <a:off x="3556000" y="3149600"/>
            <a:ext cx="355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趋势分析 · 多系列折线图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4" name="AutoShape 14"/>
          <p:cNvSpPr txBox="1"/>
          <p:nvPr/>
        </p:nvSpPr>
        <p:spPr>
          <a:xfrm>
            <a:off x="3556000" y="3492500"/>
            <a:ext cx="3556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788287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按日期观察同一城市变化方向、峰谷与多城市走势差异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366000" y="3048000"/>
            <a:ext cx="3810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8D2C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6" name="AutoShape 16"/>
          <p:cNvSpPr txBox="1"/>
          <p:nvPr/>
        </p:nvSpPr>
        <p:spPr>
          <a:xfrm>
            <a:off x="7493000" y="3149600"/>
            <a:ext cx="355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比较与分布 · 柱状图 + 环形图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7" name="AutoShape 17"/>
          <p:cNvSpPr txBox="1"/>
          <p:nvPr/>
        </p:nvSpPr>
        <p:spPr>
          <a:xfrm>
            <a:off x="7493000" y="3492500"/>
            <a:ext cx="3556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788287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城市阶段均值排序并高亮峰值；优良 / 污染等级构成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3429000" y="4445000"/>
            <a:ext cx="7747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8D2C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9" name="AutoShape 19"/>
          <p:cNvSpPr txBox="1"/>
          <p:nvPr/>
        </p:nvSpPr>
        <p:spPr>
          <a:xfrm>
            <a:off x="3556000" y="4546600"/>
            <a:ext cx="7493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明细数据区 · 分页表格 + 详情弹窗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20" name="AutoShape 20"/>
          <p:cNvSpPr txBox="1"/>
          <p:nvPr/>
        </p:nvSpPr>
        <p:spPr>
          <a:xfrm>
            <a:off x="3556000" y="4889500"/>
            <a:ext cx="749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788287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日期 · 城市 · 指标值 · AQI · 等级 · 详情操作；每页 10 条，弹窗查看单条完整记录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21" name="AutoShape 21"/>
          <p:cNvSpPr txBox="1"/>
          <p:nvPr/>
        </p:nvSpPr>
        <p:spPr>
          <a:xfrm>
            <a:off x="1016000" y="6096000"/>
            <a:ext cx="1016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828C91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布局顺序对应由总体到局部、由趋势到明细的分析路径，第一屏优先显示最需要决策的信息。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334E1E6-5418-44A2-9379-8C87CAD97843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看板界面与交互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C0AF97-2AB3-426D-849B-3AEABC664BA0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筛选条件同时驱动摘要指标、三类图表和每页 10 条的明细表格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48583D7-0207-4845-8145-1F919561685A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8A320E-A299-4B92-8DBE-1C2C84F01D7B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9626FE2-F4C2-4026-B09A-24C824AEC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8561" y="1352550"/>
            <a:ext cx="6483927" cy="4953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DA7141D-D414-43CA-B1F8-40D1F14F5228}"/>
              </a:ext>
            </a:extLst>
          </p:cNvPr>
          <p:cNvSpPr>
            <a:spLocks noGrp="1"/>
          </p:cNvSpPr>
          <p:nvPr/>
        </p:nvSpPr>
        <p:spPr>
          <a:xfrm>
            <a:off x="8267700" y="15716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03AB037-4435-42D0-AC3D-46A7A02FBCB9}"/>
              </a:ext>
            </a:extLst>
          </p:cNvPr>
          <p:cNvSpPr>
            <a:spLocks noGrp="1"/>
          </p:cNvSpPr>
          <p:nvPr/>
        </p:nvSpPr>
        <p:spPr>
          <a:xfrm>
            <a:off x="8810625" y="1524000"/>
            <a:ext cx="2714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多城市与日期筛选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C9DDE25-4F8D-459A-87A4-983266ED4630}"/>
              </a:ext>
            </a:extLst>
          </p:cNvPr>
          <p:cNvSpPr>
            <a:spLocks noGrp="1"/>
          </p:cNvSpPr>
          <p:nvPr/>
        </p:nvSpPr>
        <p:spPr>
          <a:xfrm>
            <a:off x="8810625" y="1924050"/>
            <a:ext cx="27146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默认最近 30 天，城市可多选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2CE7AA-029E-4C57-ADF7-AEB94785EB3C}"/>
              </a:ext>
            </a:extLst>
          </p:cNvPr>
          <p:cNvSpPr>
            <a:spLocks noGrp="1"/>
          </p:cNvSpPr>
          <p:nvPr/>
        </p:nvSpPr>
        <p:spPr>
          <a:xfrm>
            <a:off x="8267700" y="27146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3F31ECA-25A1-4524-A5D7-37A76E740CFD}"/>
              </a:ext>
            </a:extLst>
          </p:cNvPr>
          <p:cNvSpPr>
            <a:spLocks noGrp="1"/>
          </p:cNvSpPr>
          <p:nvPr/>
        </p:nvSpPr>
        <p:spPr>
          <a:xfrm>
            <a:off x="8810625" y="2667000"/>
            <a:ext cx="2714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六项指标切换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D1B402-26EF-4CDA-B431-86622F1364E3}"/>
              </a:ext>
            </a:extLst>
          </p:cNvPr>
          <p:cNvSpPr>
            <a:spLocks noGrp="1"/>
          </p:cNvSpPr>
          <p:nvPr/>
        </p:nvSpPr>
        <p:spPr>
          <a:xfrm>
            <a:off x="8810625" y="3067050"/>
            <a:ext cx="2714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PM2.5、PM10、SO₂、NO₂、O₃、AQI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4D40FF5-D352-4A1D-8979-2891B2856471}"/>
              </a:ext>
            </a:extLst>
          </p:cNvPr>
          <p:cNvSpPr>
            <a:spLocks noGrp="1"/>
          </p:cNvSpPr>
          <p:nvPr/>
        </p:nvSpPr>
        <p:spPr>
          <a:xfrm>
            <a:off x="8267700" y="38576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DB8114-83DC-48D6-9542-F809201F1473}"/>
              </a:ext>
            </a:extLst>
          </p:cNvPr>
          <p:cNvSpPr>
            <a:spLocks noGrp="1"/>
          </p:cNvSpPr>
          <p:nvPr/>
        </p:nvSpPr>
        <p:spPr>
          <a:xfrm>
            <a:off x="8810625" y="3810000"/>
            <a:ext cx="2714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三类图表联动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59BD58-70FA-4DB5-9C79-719F52032E7A}"/>
              </a:ext>
            </a:extLst>
          </p:cNvPr>
          <p:cNvSpPr>
            <a:spLocks noGrp="1"/>
          </p:cNvSpPr>
          <p:nvPr/>
        </p:nvSpPr>
        <p:spPr>
          <a:xfrm>
            <a:off x="8810625" y="4210050"/>
            <a:ext cx="2714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趋势、城市均值、质量等级分布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5B523F0-B2E3-4FB4-86C1-109F8D435BFF}"/>
              </a:ext>
            </a:extLst>
          </p:cNvPr>
          <p:cNvSpPr>
            <a:spLocks noGrp="1"/>
          </p:cNvSpPr>
          <p:nvPr/>
        </p:nvSpPr>
        <p:spPr>
          <a:xfrm>
            <a:off x="8267700" y="5000625"/>
            <a:ext cx="47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A0106AC-2590-4575-A2A7-A60BFA49F2E1}"/>
              </a:ext>
            </a:extLst>
          </p:cNvPr>
          <p:cNvSpPr>
            <a:spLocks noGrp="1"/>
          </p:cNvSpPr>
          <p:nvPr/>
        </p:nvSpPr>
        <p:spPr>
          <a:xfrm>
            <a:off x="8810625" y="4953000"/>
            <a:ext cx="2714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分页与记录详情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DA53C49-2B46-4CD4-948C-203BCA7BD133}"/>
              </a:ext>
            </a:extLst>
          </p:cNvPr>
          <p:cNvSpPr>
            <a:spLocks noGrp="1"/>
          </p:cNvSpPr>
          <p:nvPr/>
        </p:nvSpPr>
        <p:spPr>
          <a:xfrm>
            <a:off x="8810625" y="5353050"/>
            <a:ext cx="2714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详情按钮单独调用 A4 接口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1333001-499C-43A3-B6CF-2E56E0F8EF61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1198306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1016000" y="508000"/>
            <a:ext cx="1016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02 · 主界面与响应式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3" name="AutoShape 3"/>
          <p:cNvSpPr txBox="1"/>
          <p:nvPr/>
        </p:nvSpPr>
        <p:spPr>
          <a:xfrm>
            <a:off x="1016000" y="8382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26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四档断点适配桌面、平板与手机，图表不溢出、控件不挤坏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4" name="AutoShape 4"/>
          <p:cNvSpPr txBox="1"/>
          <p:nvPr/>
        </p:nvSpPr>
        <p:spPr>
          <a:xfrm>
            <a:off x="1016000" y="1778000"/>
            <a:ext cx="228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≥ 1120 px · 桌面端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5" name="AutoShape 5"/>
          <p:cNvSpPr txBox="1"/>
          <p:nvPr/>
        </p:nvSpPr>
        <p:spPr>
          <a:xfrm>
            <a:off x="1016000" y="2184400"/>
            <a:ext cx="2286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左右分栏稳定；摘要指标横向排列；左侧筛选面板固定可见。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6" name="AutoShape 6"/>
          <p:cNvSpPr txBox="1"/>
          <p:nvPr/>
        </p:nvSpPr>
        <p:spPr>
          <a:xfrm>
            <a:off x="3683000" y="1778000"/>
            <a:ext cx="228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≤ 1120 px · 平板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7" name="AutoShape 7"/>
          <p:cNvSpPr txBox="1"/>
          <p:nvPr/>
        </p:nvSpPr>
        <p:spPr>
          <a:xfrm>
            <a:off x="3683000" y="2184400"/>
            <a:ext cx="2286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指标卡改为两列；比较图与分布图由并排改为上下堆叠。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8" name="AutoShape 8"/>
          <p:cNvSpPr txBox="1"/>
          <p:nvPr/>
        </p:nvSpPr>
        <p:spPr>
          <a:xfrm>
            <a:off x="6350000" y="1778000"/>
            <a:ext cx="228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≤ 760 px · 手机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9" name="AutoShape 9"/>
          <p:cNvSpPr txBox="1"/>
          <p:nvPr/>
        </p:nvSpPr>
        <p:spPr>
          <a:xfrm>
            <a:off x="6350000" y="2184400"/>
            <a:ext cx="2286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取消固定侧栏，筛选区回到内容顶部；摘要与趋势优先可读。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0" name="AutoShape 10"/>
          <p:cNvSpPr txBox="1"/>
          <p:nvPr/>
        </p:nvSpPr>
        <p:spPr>
          <a:xfrm>
            <a:off x="9017000" y="1778000"/>
            <a:ext cx="2159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4C7A5A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≤ 430 px · 小屏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1" name="AutoShape 11"/>
          <p:cNvSpPr txBox="1"/>
          <p:nvPr/>
        </p:nvSpPr>
        <p:spPr>
          <a:xfrm>
            <a:off x="9017000" y="2184400"/>
            <a:ext cx="2159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进一步压缩卡片间距；表格横向滚动，不强行挤压列文字。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cxnSp>
        <p:nvCxnSpPr>
          <p:cNvPr id="12" name="Connector 12"/>
          <p:cNvCxnSpPr/>
          <p:nvPr/>
        </p:nvCxnSpPr>
        <p:spPr>
          <a:xfrm rot="-4297">
            <a:off x="1016004" y="405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2DAD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 txBox="1"/>
          <p:nvPr/>
        </p:nvSpPr>
        <p:spPr>
          <a:xfrm>
            <a:off x="1016000" y="4318000"/>
            <a:ext cx="1016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可访问性与加载状态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sp>
        <p:nvSpPr>
          <p:cNvPr id="14" name="AutoShape 14"/>
          <p:cNvSpPr txBox="1"/>
          <p:nvPr/>
        </p:nvSpPr>
        <p:spPr>
          <a:xfrm>
            <a:off x="1016000" y="4800600"/>
            <a:ext cx="4826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图表容器提供语义化标签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筛选控件保留键盘焦点样式</a:t>
            </a:r>
          </a:p>
        </p:txBody>
      </p:sp>
      <p:sp>
        <p:nvSpPr>
          <p:cNvPr id="15" name="AutoShape 15"/>
          <p:cNvSpPr txBox="1"/>
          <p:nvPr/>
        </p:nvSpPr>
        <p:spPr>
          <a:xfrm>
            <a:off x="6350000" y="4800600"/>
            <a:ext cx="4826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错误通过提示条显示，加载有遮罩与状态文本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· 数值统一保留一位小数，颜色与文字标签双重编码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EAF880A1-F639-4519-809E-1A01B3BD04B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质量保证与工程实践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81E7D51-B529-46A4-994B-5B5144AA2A44}"/>
              </a:ext>
            </a:extLst>
          </p:cNvPr>
          <p:cNvSpPr>
            <a:spLocks noGrp="1"/>
          </p:cNvSpPr>
          <p:nvPr/>
        </p:nvSpPr>
        <p:spPr>
          <a:xfrm>
            <a:off x="628650" y="838200"/>
            <a:ext cx="885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测试覆盖数据初始化、组合筛选、统计、详情和参数校验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7AC092C-1636-46E5-8D29-A11C0AA4C7B6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33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1839A0-371B-46B9-8219-2A1FC5B132A6}"/>
              </a:ext>
            </a:extLst>
          </p:cNvPr>
          <p:cNvSpPr>
            <a:spLocks noGrp="1"/>
          </p:cNvSpPr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E7B0D5B-B3E7-4596-A09B-B66C8D763297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71B9278-03C2-4094-96DE-999CCA1D8B68}"/>
              </a:ext>
            </a:extLst>
          </p:cNvPr>
          <p:cNvSpPr>
            <a:spLocks noGrp="1"/>
          </p:cNvSpPr>
          <p:nvPr/>
        </p:nvSpPr>
        <p:spPr>
          <a:xfrm>
            <a:off x="1333500" y="14859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数据库初始化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0CF9D5-CB79-4B0A-A05D-0BC5939389C7}"/>
              </a:ext>
            </a:extLst>
          </p:cNvPr>
          <p:cNvSpPr>
            <a:spLocks noGrp="1"/>
          </p:cNvSpPr>
          <p:nvPr/>
        </p:nvSpPr>
        <p:spPr>
          <a:xfrm>
            <a:off x="3905250" y="14859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6 个城市，720 条记录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39CA6EE-3EFE-490D-83A2-BEA19714622C}"/>
              </a:ext>
            </a:extLst>
          </p:cNvPr>
          <p:cNvSpPr>
            <a:spLocks noGrp="1"/>
          </p:cNvSpPr>
          <p:nvPr/>
        </p:nvSpPr>
        <p:spPr>
          <a:xfrm>
            <a:off x="10096500" y="148590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B46F16-E55A-43C2-A479-2073D4739F9E}"/>
              </a:ext>
            </a:extLst>
          </p:cNvPr>
          <p:cNvSpPr>
            <a:spLocks noGrp="1"/>
          </p:cNvSpPr>
          <p:nvPr/>
        </p:nvSpPr>
        <p:spPr>
          <a:xfrm>
            <a:off x="1333500" y="200025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C4BCA03-DE11-4B5A-8EA8-D3627A725ED2}"/>
              </a:ext>
            </a:extLst>
          </p:cNvPr>
          <p:cNvSpPr>
            <a:spLocks noGrp="1"/>
          </p:cNvSpPr>
          <p:nvPr/>
        </p:nvSpPr>
        <p:spPr>
          <a:xfrm>
            <a:off x="685800" y="232410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D7EA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98C4189-3CAE-485E-9304-5D203F6C89ED}"/>
              </a:ext>
            </a:extLst>
          </p:cNvPr>
          <p:cNvSpPr>
            <a:spLocks noGrp="1"/>
          </p:cNvSpPr>
          <p:nvPr/>
        </p:nvSpPr>
        <p:spPr>
          <a:xfrm>
            <a:off x="1333500" y="230505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组合筛选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9EAB17E-B4A2-496F-BC9A-9C3A7A8456FA}"/>
              </a:ext>
            </a:extLst>
          </p:cNvPr>
          <p:cNvSpPr>
            <a:spLocks noGrp="1"/>
          </p:cNvSpPr>
          <p:nvPr/>
        </p:nvSpPr>
        <p:spPr>
          <a:xfrm>
            <a:off x="3905250" y="230505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两城市 30 天返回 60 条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A32A764-2653-430D-9F76-725B460F0286}"/>
              </a:ext>
            </a:extLst>
          </p:cNvPr>
          <p:cNvSpPr>
            <a:spLocks noGrp="1"/>
          </p:cNvSpPr>
          <p:nvPr/>
        </p:nvSpPr>
        <p:spPr>
          <a:xfrm>
            <a:off x="10096500" y="230505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E69951-C7D0-4864-837C-FCD64EC046BC}"/>
              </a:ext>
            </a:extLst>
          </p:cNvPr>
          <p:cNvSpPr>
            <a:spLocks noGrp="1"/>
          </p:cNvSpPr>
          <p:nvPr/>
        </p:nvSpPr>
        <p:spPr>
          <a:xfrm>
            <a:off x="1333500" y="281940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D1A5535-61C9-4D83-B929-0ABA47A27866}"/>
              </a:ext>
            </a:extLst>
          </p:cNvPr>
          <p:cNvSpPr>
            <a:spLocks noGrp="1"/>
          </p:cNvSpPr>
          <p:nvPr/>
        </p:nvSpPr>
        <p:spPr>
          <a:xfrm>
            <a:off x="685800" y="314325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79D3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F2D20F6-EF6C-4B0C-A5B9-BC1542A06496}"/>
              </a:ext>
            </a:extLst>
          </p:cNvPr>
          <p:cNvSpPr>
            <a:spLocks noGrp="1"/>
          </p:cNvSpPr>
          <p:nvPr/>
        </p:nvSpPr>
        <p:spPr>
          <a:xfrm>
            <a:off x="1333500" y="31242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分组统计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51FFB04-4C9C-42A4-BFFA-F91B9D325676}"/>
              </a:ext>
            </a:extLst>
          </p:cNvPr>
          <p:cNvSpPr>
            <a:spLocks noGrp="1"/>
          </p:cNvSpPr>
          <p:nvPr/>
        </p:nvSpPr>
        <p:spPr>
          <a:xfrm>
            <a:off x="3905250" y="31242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均值、峰值、低值、优良天占比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37E7C70-E795-48A2-BC1C-1F7007D18E92}"/>
              </a:ext>
            </a:extLst>
          </p:cNvPr>
          <p:cNvSpPr>
            <a:spLocks noGrp="1"/>
          </p:cNvSpPr>
          <p:nvPr/>
        </p:nvSpPr>
        <p:spPr>
          <a:xfrm>
            <a:off x="10096500" y="312420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F504BDC-2036-4703-A888-3B9360227423}"/>
              </a:ext>
            </a:extLst>
          </p:cNvPr>
          <p:cNvSpPr>
            <a:spLocks noGrp="1"/>
          </p:cNvSpPr>
          <p:nvPr/>
        </p:nvSpPr>
        <p:spPr>
          <a:xfrm>
            <a:off x="1333500" y="363855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3F7074B-2CFA-46F4-8D47-A3FC24CAA312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C5D3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32A571C-6CAC-4536-9915-A80E566B66CF}"/>
              </a:ext>
            </a:extLst>
          </p:cNvPr>
          <p:cNvSpPr>
            <a:spLocks noGrp="1"/>
          </p:cNvSpPr>
          <p:nvPr/>
        </p:nvSpPr>
        <p:spPr>
          <a:xfrm>
            <a:off x="1333500" y="394335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详情接口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B488FA3-FA98-4529-9F62-B9E0A0978A2C}"/>
              </a:ext>
            </a:extLst>
          </p:cNvPr>
          <p:cNvSpPr>
            <a:spLocks noGrp="1"/>
          </p:cNvSpPr>
          <p:nvPr/>
        </p:nvSpPr>
        <p:spPr>
          <a:xfrm>
            <a:off x="3905250" y="394335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按 id 返回全部污染物字段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EFD7F2B-D87B-4208-9DE5-091952CD3247}"/>
              </a:ext>
            </a:extLst>
          </p:cNvPr>
          <p:cNvSpPr>
            <a:spLocks noGrp="1"/>
          </p:cNvSpPr>
          <p:nvPr/>
        </p:nvSpPr>
        <p:spPr>
          <a:xfrm>
            <a:off x="10096500" y="394335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B4C56DD-35F1-432A-BE64-4C0A23B93436}"/>
              </a:ext>
            </a:extLst>
          </p:cNvPr>
          <p:cNvSpPr>
            <a:spLocks noGrp="1"/>
          </p:cNvSpPr>
          <p:nvPr/>
        </p:nvSpPr>
        <p:spPr>
          <a:xfrm>
            <a:off x="1333500" y="445770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2E3B13-5A0C-4177-982F-6F4AF834A183}"/>
              </a:ext>
            </a:extLst>
          </p:cNvPr>
          <p:cNvSpPr>
            <a:spLocks noGrp="1"/>
          </p:cNvSpPr>
          <p:nvPr/>
        </p:nvSpPr>
        <p:spPr>
          <a:xfrm>
            <a:off x="685800" y="478155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35D9D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DE54AB-6032-4F56-AEA0-1120C06DF4E6}"/>
              </a:ext>
            </a:extLst>
          </p:cNvPr>
          <p:cNvSpPr>
            <a:spLocks noGrp="1"/>
          </p:cNvSpPr>
          <p:nvPr/>
        </p:nvSpPr>
        <p:spPr>
          <a:xfrm>
            <a:off x="1333500" y="476250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11F"/>
                </a:solidFill>
                <a:latin typeface="Microsoft YaHei"/>
                <a:ea typeface="Microsoft YaHei"/>
                <a:cs typeface="Microsoft YaHei"/>
              </a:rPr>
              <a:t>错误响应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42B6B64-D8A7-4AAF-818C-6F88FB2FE5A7}"/>
              </a:ext>
            </a:extLst>
          </p:cNvPr>
          <p:cNvSpPr>
            <a:spLocks noGrp="1"/>
          </p:cNvSpPr>
          <p:nvPr/>
        </p:nvSpPr>
        <p:spPr>
          <a:xfrm>
            <a:off x="3905250" y="47625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6D"/>
                </a:solidFill>
                <a:latin typeface="Microsoft YaHei"/>
                <a:ea typeface="Microsoft YaHei"/>
                <a:cs typeface="Microsoft YaHei"/>
              </a:rPr>
              <a:t>非法指标返回 400 和明确提示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1AE1F27-AFA7-458E-9BC9-719ECD8E3965}"/>
              </a:ext>
            </a:extLst>
          </p:cNvPr>
          <p:cNvSpPr>
            <a:spLocks noGrp="1"/>
          </p:cNvSpPr>
          <p:nvPr/>
        </p:nvSpPr>
        <p:spPr>
          <a:xfrm>
            <a:off x="10096500" y="4762500"/>
            <a:ext cx="1047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8A70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77B1667-7E3F-4124-BD99-D805F70D74CD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810750" cy="9525"/>
          </a:xfrm>
          <a:prstGeom prst="rect">
            <a:avLst/>
          </a:prstGeom>
          <a:solidFill>
            <a:srgbClr val="D9DFDC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73EFC08-BE84-44E0-AC84-DE558FFBE68C}"/>
              </a:ext>
            </a:extLst>
          </p:cNvPr>
          <p:cNvSpPr>
            <a:spLocks noGrp="1"/>
          </p:cNvSpPr>
          <p:nvPr/>
        </p:nvSpPr>
        <p:spPr>
          <a:xfrm>
            <a:off x="685800" y="5667375"/>
            <a:ext cx="10763250" cy="552450"/>
          </a:xfrm>
          <a:prstGeom prst="roundRect">
            <a:avLst>
              <a:gd name="adj" fmla="val 13793"/>
            </a:avLst>
          </a:prstGeom>
          <a:solidFill>
            <a:srgbClr val="163D3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4D5480B-AEF3-44BB-8300-E2913A83D90B}"/>
              </a:ext>
            </a:extLst>
          </p:cNvPr>
          <p:cNvSpPr>
            <a:spLocks noGrp="1"/>
          </p:cNvSpPr>
          <p:nvPr/>
        </p:nvSpPr>
        <p:spPr>
          <a:xfrm>
            <a:off x="914400" y="5743575"/>
            <a:ext cx="1028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mvn test 全部通过    Git 不少于 10 次明确提交    ECharts 资源随 JAR 本地打包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FAF6968-0FAC-48D6-B328-E15185389865}"/>
              </a:ext>
            </a:extLst>
          </p:cNvPr>
          <p:cNvSpPr>
            <a:spLocks noGrp="1"/>
          </p:cNvSpPr>
          <p:nvPr/>
        </p:nvSpPr>
        <p:spPr>
          <a:xfrm>
            <a:off x="609600" y="6505575"/>
            <a:ext cx="476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 algn="l">
              <a:def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390"/>
                </a:solidFill>
                <a:latin typeface="Microsoft YaHei"/>
                <a:ea typeface="Microsoft YaHei"/>
                <a:cs typeface="Microsoft YaHei"/>
              </a:rPr>
              <a:t>城市空气质量监测看板</a:t>
            </a:r>
          </a:p>
        </p:txBody>
      </p:sp>
    </p:spTree>
    <p:extLst>
      <p:ext uri="{BB962C8B-B14F-4D97-AF65-F5344CB8AC3E}">
        <p14:creationId xmlns:p14="http://schemas.microsoft.com/office/powerpoint/2010/main" val="1501955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1016000" y="2286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3600" b="1" i="0" u="none" strike="noStrike" kern="0" cap="none" spc="0" normalizeH="0" baseline="0" noProof="0">
                <a:ln>
                  <a:noFill/>
                </a:ln>
                <a:solidFill>
                  <a:srgbClr val="2E3238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感谢聆听，欢迎提问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</p:txBody>
      </p:sp>
      <p:cxnSp>
        <p:nvCxnSpPr>
          <p:cNvPr id="3" name="Connector 3"/>
          <p:cNvCxnSpPr/>
          <p:nvPr/>
        </p:nvCxnSpPr>
        <p:spPr>
          <a:xfrm rot="-34376">
            <a:off x="1016032" y="32956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4C7A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 txBox="1"/>
          <p:nvPr/>
        </p:nvSpPr>
        <p:spPr>
          <a:xfrm>
            <a:off x="1016000" y="3556000"/>
            <a:ext cx="1016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5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项目：城市空气质量监测看板 · 第三讲课后作业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cs typeface="Arial" charset="0"/>
              <a:sym typeface="Arial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分组：第 9 组　|　成员：卢浩、钱沛桥、李梦琪</a:t>
            </a:r>
          </a:p>
          <a:p>
            <a:pPr marL="0" marR="0" lvl="0" indent="0" algn="l" defTabSz="914400" rtl="0" eaLnBrk="1" fontAlgn="auto" latinLnBrk="0" hangingPunct="1">
              <a:lnSpc>
                <a:spcPct val="15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charset="0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3C464E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仓库：LHWLX / air-quality-dashboard　|　版本 V1.0 · 2026.10.25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744</Words>
  <Application>Microsoft Office PowerPoint</Application>
  <DocSecurity>0</DocSecurity>
  <PresentationFormat>宽屏</PresentationFormat>
  <Paragraphs>176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Noto Sans SC</vt:lpstr>
      <vt:lpstr>Microsoft YaHei</vt:lpstr>
      <vt:lpstr>Aptos</vt:lpstr>
      <vt:lpstr>Arial</vt:lpstr>
      <vt:lpstr>ChatGPT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HL9309</cp:lastModifiedBy>
  <cp:revision>3</cp:revision>
  <dcterms:created xsi:type="dcterms:W3CDTF">2026-10-24T11:38:14Z</dcterms:created>
  <dcterms:modified xsi:type="dcterms:W3CDTF">2026-10-26T00:26:39Z</dcterms:modified>
</cp:coreProperties>
</file>